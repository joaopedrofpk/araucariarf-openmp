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6858000" cy="9144000"/>
  <p:embeddedFontLst>
    <p:embeddedFont>
      <p:font typeface="Roboto Mono SemiBold"/>
      <p:regular r:id="rId26"/>
      <p:bold r:id="rId27"/>
      <p:italic r:id="rId28"/>
      <p:boldItalic r:id="rId29"/>
    </p:embeddedFont>
    <p:embeddedFont>
      <p:font typeface="Roboto Mono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24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240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MonoSemiBold-regular.fntdata"/><Relationship Id="rId25" Type="http://schemas.openxmlformats.org/officeDocument/2006/relationships/slide" Target="slides/slide20.xml"/><Relationship Id="rId28" Type="http://schemas.openxmlformats.org/officeDocument/2006/relationships/font" Target="fonts/RobotoMonoSemiBold-italic.fntdata"/><Relationship Id="rId27" Type="http://schemas.openxmlformats.org/officeDocument/2006/relationships/font" Target="fonts/RobotoMonoSemiBold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MonoSemiBold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Mono-bold.fntdata"/><Relationship Id="rId30" Type="http://schemas.openxmlformats.org/officeDocument/2006/relationships/font" Target="fonts/RobotoMono-regular.fntdata"/><Relationship Id="rId11" Type="http://schemas.openxmlformats.org/officeDocument/2006/relationships/slide" Target="slides/slide6.xml"/><Relationship Id="rId33" Type="http://schemas.openxmlformats.org/officeDocument/2006/relationships/font" Target="fonts/RobotoMono-boldItalic.fntdata"/><Relationship Id="rId10" Type="http://schemas.openxmlformats.org/officeDocument/2006/relationships/slide" Target="slides/slide5.xml"/><Relationship Id="rId32" Type="http://schemas.openxmlformats.org/officeDocument/2006/relationships/font" Target="fonts/RobotoMono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62acf48b0e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62acf48b0e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689655311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689655311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689655311c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689655311c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689655311c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689655311c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689655311c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689655311c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689655311c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689655311c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689655311c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689655311c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689655311c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689655311c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84e342fed7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84e342fed7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84e342fed7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84e342fed7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84e342fed7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84e342fed7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84e342fed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84e342fed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84e342fed7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84e342fed7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88f63b86cc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88f63b86c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84e342fed7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84e342fed7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84e342fed7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84e342fed7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84e342fed7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84e342fed7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89362baa7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89362baa7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89362baa7c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89362baa7c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 rotWithShape="1">
          <a:blip r:embed="rId1">
            <a:alphaModFix/>
          </a:blip>
          <a:srcRect b="0" l="1390" r="0" t="0"/>
          <a:stretch/>
        </p:blipFill>
        <p:spPr>
          <a:xfrm>
            <a:off x="0" y="2725"/>
            <a:ext cx="9143999" cy="51435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/>
          <p:nvPr/>
        </p:nvSpPr>
        <p:spPr>
          <a:xfrm>
            <a:off x="607275" y="593100"/>
            <a:ext cx="6902700" cy="3616500"/>
          </a:xfrm>
          <a:prstGeom prst="roundRect">
            <a:avLst>
              <a:gd fmla="val 4376" name="adj"/>
            </a:avLst>
          </a:prstGeom>
          <a:solidFill>
            <a:srgbClr val="1F32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3"/>
          <p:cNvSpPr/>
          <p:nvPr/>
        </p:nvSpPr>
        <p:spPr>
          <a:xfrm>
            <a:off x="754650" y="744575"/>
            <a:ext cx="134700" cy="131400"/>
          </a:xfrm>
          <a:prstGeom prst="ellipse">
            <a:avLst/>
          </a:prstGeom>
          <a:solidFill>
            <a:srgbClr val="E0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3"/>
          <p:cNvSpPr/>
          <p:nvPr/>
        </p:nvSpPr>
        <p:spPr>
          <a:xfrm>
            <a:off x="972300" y="744575"/>
            <a:ext cx="134700" cy="1314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3"/>
          <p:cNvSpPr/>
          <p:nvPr/>
        </p:nvSpPr>
        <p:spPr>
          <a:xfrm>
            <a:off x="1189950" y="744575"/>
            <a:ext cx="134700" cy="131400"/>
          </a:xfrm>
          <a:prstGeom prst="ellipse">
            <a:avLst/>
          </a:prstGeom>
          <a:solidFill>
            <a:srgbClr val="6AA8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3"/>
          <p:cNvSpPr/>
          <p:nvPr/>
        </p:nvSpPr>
        <p:spPr>
          <a:xfrm>
            <a:off x="3694525" y="3521275"/>
            <a:ext cx="4189200" cy="909600"/>
          </a:xfrm>
          <a:prstGeom prst="roundRect">
            <a:avLst>
              <a:gd fmla="val 4376" name="adj"/>
            </a:avLst>
          </a:prstGeom>
          <a:solidFill>
            <a:srgbClr val="1F324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3"/>
          <p:cNvSpPr txBox="1"/>
          <p:nvPr/>
        </p:nvSpPr>
        <p:spPr>
          <a:xfrm>
            <a:off x="1018275" y="1219750"/>
            <a:ext cx="6080700" cy="7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900">
                <a:solidFill>
                  <a:srgbClr val="EFEFEF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Random Forest</a:t>
            </a:r>
            <a:endParaRPr sz="2900">
              <a:solidFill>
                <a:srgbClr val="EFEFEF"/>
              </a:solidFill>
              <a:latin typeface="Roboto Mono SemiBold"/>
              <a:ea typeface="Roboto Mono SemiBold"/>
              <a:cs typeface="Roboto Mono SemiBold"/>
              <a:sym typeface="Roboto Mono SemiBold"/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1018275" y="2137375"/>
            <a:ext cx="6080700" cy="13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EFEFEF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Eduardo Birkheuer da Silva</a:t>
            </a:r>
            <a:endParaRPr sz="1600">
              <a:solidFill>
                <a:srgbClr val="EFEFEF"/>
              </a:solidFill>
              <a:latin typeface="Roboto Mono SemiBold"/>
              <a:ea typeface="Roboto Mono SemiBold"/>
              <a:cs typeface="Roboto Mono SemiBold"/>
              <a:sym typeface="Roboto Mono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EFEFEF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João Pedro Ferreira Pereira</a:t>
            </a:r>
            <a:endParaRPr sz="1600">
              <a:solidFill>
                <a:srgbClr val="EFEFEF"/>
              </a:solidFill>
              <a:latin typeface="Roboto Mono SemiBold"/>
              <a:ea typeface="Roboto Mono SemiBold"/>
              <a:cs typeface="Roboto Mono SemiBold"/>
              <a:sym typeface="Roboto Mono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EFEFEF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Walter Frank</a:t>
            </a:r>
            <a:endParaRPr sz="1600">
              <a:solidFill>
                <a:srgbClr val="EFEFEF"/>
              </a:solidFill>
              <a:latin typeface="Roboto Mono SemiBold"/>
              <a:ea typeface="Roboto Mono SemiBold"/>
              <a:cs typeface="Roboto Mono SemiBold"/>
              <a:sym typeface="Roboto Mono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EFEFEF"/>
              </a:solidFill>
              <a:latin typeface="Roboto Mono SemiBold"/>
              <a:ea typeface="Roboto Mono SemiBold"/>
              <a:cs typeface="Roboto Mono SemiBold"/>
              <a:sym typeface="Roboto Mono SemiBold"/>
            </a:endParaRPr>
          </a:p>
        </p:txBody>
      </p:sp>
      <p:sp>
        <p:nvSpPr>
          <p:cNvPr id="62" name="Google Shape;62;p13"/>
          <p:cNvSpPr txBox="1"/>
          <p:nvPr/>
        </p:nvSpPr>
        <p:spPr>
          <a:xfrm>
            <a:off x="3742975" y="3521275"/>
            <a:ext cx="4048200" cy="9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EFEFEF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INF01008 - Computação Paralela e Distribuída</a:t>
            </a:r>
            <a:endParaRPr sz="1600">
              <a:solidFill>
                <a:srgbClr val="EFEFEF"/>
              </a:solidFill>
              <a:latin typeface="Roboto Mono SemiBold"/>
              <a:ea typeface="Roboto Mono SemiBold"/>
              <a:cs typeface="Roboto Mono SemiBold"/>
              <a:sym typeface="Roboto Mono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/>
          <p:nvPr/>
        </p:nvSpPr>
        <p:spPr>
          <a:xfrm>
            <a:off x="606150" y="1328700"/>
            <a:ext cx="7931700" cy="1718400"/>
          </a:xfrm>
          <a:prstGeom prst="roundRect">
            <a:avLst>
              <a:gd fmla="val 4376" name="adj"/>
            </a:avLst>
          </a:prstGeom>
          <a:solidFill>
            <a:srgbClr val="1F3240"/>
          </a:solidFill>
          <a:ln>
            <a:noFill/>
          </a:ln>
          <a:effectLst>
            <a:outerShdw blurRad="171450" rotWithShape="0" algn="bl" dir="5400000" dist="571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4"/>
          <p:cNvSpPr/>
          <p:nvPr/>
        </p:nvSpPr>
        <p:spPr>
          <a:xfrm>
            <a:off x="753525" y="1480175"/>
            <a:ext cx="134700" cy="131400"/>
          </a:xfrm>
          <a:prstGeom prst="ellipse">
            <a:avLst/>
          </a:prstGeom>
          <a:solidFill>
            <a:srgbClr val="E0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4"/>
          <p:cNvSpPr/>
          <p:nvPr/>
        </p:nvSpPr>
        <p:spPr>
          <a:xfrm>
            <a:off x="971175" y="1480175"/>
            <a:ext cx="134700" cy="1314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4"/>
          <p:cNvSpPr/>
          <p:nvPr/>
        </p:nvSpPr>
        <p:spPr>
          <a:xfrm>
            <a:off x="1188825" y="1480175"/>
            <a:ext cx="134700" cy="131400"/>
          </a:xfrm>
          <a:prstGeom prst="ellipse">
            <a:avLst/>
          </a:prstGeom>
          <a:solidFill>
            <a:srgbClr val="6AA8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4"/>
          <p:cNvSpPr txBox="1"/>
          <p:nvPr/>
        </p:nvSpPr>
        <p:spPr>
          <a:xfrm>
            <a:off x="2438575" y="1758838"/>
            <a:ext cx="5115300" cy="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900">
                <a:solidFill>
                  <a:srgbClr val="EFEFEF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O Algoritmo Random Forest</a:t>
            </a:r>
            <a:endParaRPr b="1" sz="2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2" name="Google Shape;72;p14"/>
          <p:cNvSpPr txBox="1"/>
          <p:nvPr/>
        </p:nvSpPr>
        <p:spPr>
          <a:xfrm>
            <a:off x="1590175" y="1758838"/>
            <a:ext cx="848400" cy="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100">
                <a:solidFill>
                  <a:srgbClr val="3C78D8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01</a:t>
            </a:r>
            <a:endParaRPr sz="4100">
              <a:solidFill>
                <a:srgbClr val="3C78D8"/>
              </a:solidFill>
              <a:latin typeface="Roboto Mono SemiBold"/>
              <a:ea typeface="Roboto Mono SemiBold"/>
              <a:cs typeface="Roboto Mono SemiBold"/>
              <a:sym typeface="Roboto Mono Semi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/>
          <p:nvPr/>
        </p:nvSpPr>
        <p:spPr>
          <a:xfrm>
            <a:off x="606150" y="809975"/>
            <a:ext cx="7931700" cy="3981000"/>
          </a:xfrm>
          <a:prstGeom prst="roundRect">
            <a:avLst>
              <a:gd fmla="val 4376" name="adj"/>
            </a:avLst>
          </a:prstGeom>
          <a:solidFill>
            <a:srgbClr val="1F3240"/>
          </a:solidFill>
          <a:ln>
            <a:noFill/>
          </a:ln>
          <a:effectLst>
            <a:outerShdw blurRad="171450" rotWithShape="0" algn="bl" dir="5400000" dist="571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5"/>
          <p:cNvSpPr/>
          <p:nvPr/>
        </p:nvSpPr>
        <p:spPr>
          <a:xfrm>
            <a:off x="753525" y="961450"/>
            <a:ext cx="134700" cy="131400"/>
          </a:xfrm>
          <a:prstGeom prst="ellipse">
            <a:avLst/>
          </a:prstGeom>
          <a:solidFill>
            <a:srgbClr val="E0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5"/>
          <p:cNvSpPr/>
          <p:nvPr/>
        </p:nvSpPr>
        <p:spPr>
          <a:xfrm>
            <a:off x="971175" y="961450"/>
            <a:ext cx="134700" cy="1314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5"/>
          <p:cNvSpPr/>
          <p:nvPr/>
        </p:nvSpPr>
        <p:spPr>
          <a:xfrm>
            <a:off x="1188825" y="961450"/>
            <a:ext cx="134700" cy="131400"/>
          </a:xfrm>
          <a:prstGeom prst="ellipse">
            <a:avLst/>
          </a:prstGeom>
          <a:solidFill>
            <a:srgbClr val="6AA8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5"/>
          <p:cNvSpPr txBox="1"/>
          <p:nvPr/>
        </p:nvSpPr>
        <p:spPr>
          <a:xfrm>
            <a:off x="606150" y="205275"/>
            <a:ext cx="6080700" cy="5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900">
                <a:solidFill>
                  <a:srgbClr val="EFEFEF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Random Forest</a:t>
            </a:r>
            <a:endParaRPr sz="2900">
              <a:solidFill>
                <a:srgbClr val="EFEFEF"/>
              </a:solidFill>
              <a:latin typeface="Roboto Mono SemiBold"/>
              <a:ea typeface="Roboto Mono SemiBold"/>
              <a:cs typeface="Roboto Mono SemiBold"/>
              <a:sym typeface="Roboto Mono SemiBold"/>
            </a:endParaRPr>
          </a:p>
        </p:txBody>
      </p:sp>
      <p:sp>
        <p:nvSpPr>
          <p:cNvPr id="82" name="Google Shape;82;p15"/>
          <p:cNvSpPr txBox="1"/>
          <p:nvPr/>
        </p:nvSpPr>
        <p:spPr>
          <a:xfrm>
            <a:off x="847500" y="1405350"/>
            <a:ext cx="7449000" cy="24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F3F3F3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Floresta aleatória ou floresta de decisão é um </a:t>
            </a:r>
            <a:r>
              <a:rPr lang="pt-BR">
                <a:solidFill>
                  <a:schemeClr val="accent1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método de aprendizado de máquina</a:t>
            </a:r>
            <a:r>
              <a:rPr lang="pt-BR">
                <a:solidFill>
                  <a:srgbClr val="F3F3F3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 do tipo </a:t>
            </a:r>
            <a:r>
              <a:rPr lang="pt-BR">
                <a:solidFill>
                  <a:schemeClr val="accent1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ensemble</a:t>
            </a:r>
            <a:r>
              <a:rPr lang="pt-BR">
                <a:solidFill>
                  <a:srgbClr val="F3F3F3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 que constrói múltiplas árvores de decisão durante o treinamento para realizar a classificação de dados ou regressão. No caso da classificação, a previsão final é dada por votação majoritária simples das árvores. Já na regressão, a previsão final é dada pela média das previsões das árvores.</a:t>
            </a:r>
            <a:endParaRPr>
              <a:solidFill>
                <a:srgbClr val="F3F3F3"/>
              </a:solidFill>
              <a:latin typeface="Roboto Mono SemiBold"/>
              <a:ea typeface="Roboto Mono SemiBold"/>
              <a:cs typeface="Roboto Mono SemiBold"/>
              <a:sym typeface="Roboto Mono Semi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EFEFEF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 </a:t>
            </a:r>
            <a:endParaRPr sz="1600">
              <a:solidFill>
                <a:srgbClr val="EFEFEF"/>
              </a:solidFill>
              <a:latin typeface="Roboto Mono SemiBold"/>
              <a:ea typeface="Roboto Mono SemiBold"/>
              <a:cs typeface="Roboto Mono SemiBold"/>
              <a:sym typeface="Roboto Mono Semi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/>
          <p:nvPr/>
        </p:nvSpPr>
        <p:spPr>
          <a:xfrm>
            <a:off x="606150" y="809975"/>
            <a:ext cx="7931700" cy="3981000"/>
          </a:xfrm>
          <a:prstGeom prst="roundRect">
            <a:avLst>
              <a:gd fmla="val 4376" name="adj"/>
            </a:avLst>
          </a:prstGeom>
          <a:solidFill>
            <a:srgbClr val="1F3240"/>
          </a:solidFill>
          <a:ln>
            <a:noFill/>
          </a:ln>
          <a:effectLst>
            <a:outerShdw blurRad="171450" rotWithShape="0" algn="bl" dir="5400000" dist="571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6"/>
          <p:cNvSpPr/>
          <p:nvPr/>
        </p:nvSpPr>
        <p:spPr>
          <a:xfrm>
            <a:off x="753525" y="961450"/>
            <a:ext cx="134700" cy="131400"/>
          </a:xfrm>
          <a:prstGeom prst="ellipse">
            <a:avLst/>
          </a:prstGeom>
          <a:solidFill>
            <a:srgbClr val="E0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6"/>
          <p:cNvSpPr/>
          <p:nvPr/>
        </p:nvSpPr>
        <p:spPr>
          <a:xfrm>
            <a:off x="971175" y="961450"/>
            <a:ext cx="134700" cy="1314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6"/>
          <p:cNvSpPr/>
          <p:nvPr/>
        </p:nvSpPr>
        <p:spPr>
          <a:xfrm>
            <a:off x="1188825" y="961450"/>
            <a:ext cx="134700" cy="131400"/>
          </a:xfrm>
          <a:prstGeom prst="ellipse">
            <a:avLst/>
          </a:prstGeom>
          <a:solidFill>
            <a:srgbClr val="6AA8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6"/>
          <p:cNvSpPr txBox="1"/>
          <p:nvPr/>
        </p:nvSpPr>
        <p:spPr>
          <a:xfrm>
            <a:off x="606150" y="205275"/>
            <a:ext cx="6080700" cy="5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900">
                <a:solidFill>
                  <a:srgbClr val="EFEFEF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Random Forest</a:t>
            </a:r>
            <a:endParaRPr sz="2900">
              <a:solidFill>
                <a:srgbClr val="EFEFEF"/>
              </a:solidFill>
              <a:latin typeface="Roboto Mono SemiBold"/>
              <a:ea typeface="Roboto Mono SemiBold"/>
              <a:cs typeface="Roboto Mono SemiBold"/>
              <a:sym typeface="Roboto Mono SemiBold"/>
            </a:endParaRPr>
          </a:p>
        </p:txBody>
      </p:sp>
      <p:pic>
        <p:nvPicPr>
          <p:cNvPr id="92" name="Google Shape;9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8225" y="1217550"/>
            <a:ext cx="4405701" cy="3165824"/>
          </a:xfrm>
          <a:prstGeom prst="rect">
            <a:avLst/>
          </a:prstGeom>
          <a:solidFill>
            <a:srgbClr val="1F3240"/>
          </a:solidFill>
          <a:ln>
            <a:noFill/>
          </a:ln>
          <a:effectLst>
            <a:outerShdw blurRad="171450" rotWithShape="0" algn="bl" dir="5400000" dist="57150">
              <a:srgbClr val="000000">
                <a:alpha val="50000"/>
              </a:srgbClr>
            </a:outerShdw>
          </a:effectLst>
        </p:spPr>
      </p:pic>
      <p:sp>
        <p:nvSpPr>
          <p:cNvPr id="93" name="Google Shape;93;p16"/>
          <p:cNvSpPr txBox="1"/>
          <p:nvPr/>
        </p:nvSpPr>
        <p:spPr>
          <a:xfrm>
            <a:off x="5539275" y="1284150"/>
            <a:ext cx="2935500" cy="11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1600">
                <a:solidFill>
                  <a:srgbClr val="EFEFEF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&gt;	Geração de N árvores de decisão distintas </a:t>
            </a:r>
            <a:r>
              <a:rPr lang="pt-BR" sz="1600">
                <a:solidFill>
                  <a:schemeClr val="accent1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com</a:t>
            </a:r>
            <a:r>
              <a:rPr lang="pt-BR" sz="1600">
                <a:solidFill>
                  <a:srgbClr val="EFEFEF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 </a:t>
            </a:r>
            <a:r>
              <a:rPr lang="pt-BR" sz="1600">
                <a:solidFill>
                  <a:schemeClr val="accent1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bootstrapping</a:t>
            </a:r>
            <a:endParaRPr sz="1600">
              <a:solidFill>
                <a:schemeClr val="accent1"/>
              </a:solidFill>
              <a:latin typeface="Roboto Mono SemiBold"/>
              <a:ea typeface="Roboto Mono SemiBold"/>
              <a:cs typeface="Roboto Mono SemiBold"/>
              <a:sym typeface="Roboto Mono SemiBold"/>
            </a:endParaRPr>
          </a:p>
        </p:txBody>
      </p:sp>
      <p:sp>
        <p:nvSpPr>
          <p:cNvPr id="94" name="Google Shape;94;p16"/>
          <p:cNvSpPr txBox="1"/>
          <p:nvPr/>
        </p:nvSpPr>
        <p:spPr>
          <a:xfrm>
            <a:off x="5539275" y="3192675"/>
            <a:ext cx="2935500" cy="11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1600">
                <a:solidFill>
                  <a:srgbClr val="EFEFEF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&gt;	predição final por </a:t>
            </a:r>
            <a:r>
              <a:rPr lang="pt-BR" sz="1600">
                <a:solidFill>
                  <a:schemeClr val="accent1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votação</a:t>
            </a:r>
            <a:r>
              <a:rPr lang="pt-BR" sz="1600">
                <a:solidFill>
                  <a:srgbClr val="EFEFEF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 </a:t>
            </a:r>
            <a:r>
              <a:rPr lang="pt-BR" sz="1600">
                <a:solidFill>
                  <a:schemeClr val="accent1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majoritária</a:t>
            </a:r>
            <a:r>
              <a:rPr lang="pt-BR" sz="1600">
                <a:solidFill>
                  <a:srgbClr val="EFEFEF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 entre todas as árvores</a:t>
            </a:r>
            <a:endParaRPr sz="1600">
              <a:solidFill>
                <a:srgbClr val="EFEFEF"/>
              </a:solidFill>
              <a:latin typeface="Roboto Mono SemiBold"/>
              <a:ea typeface="Roboto Mono SemiBold"/>
              <a:cs typeface="Roboto Mono SemiBold"/>
              <a:sym typeface="Roboto Mono SemiBold"/>
            </a:endParaRPr>
          </a:p>
        </p:txBody>
      </p:sp>
      <p:cxnSp>
        <p:nvCxnSpPr>
          <p:cNvPr id="95" name="Google Shape;95;p16"/>
          <p:cNvCxnSpPr/>
          <p:nvPr/>
        </p:nvCxnSpPr>
        <p:spPr>
          <a:xfrm>
            <a:off x="5451650" y="2999650"/>
            <a:ext cx="28827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7"/>
          <p:cNvSpPr/>
          <p:nvPr/>
        </p:nvSpPr>
        <p:spPr>
          <a:xfrm>
            <a:off x="606150" y="1328700"/>
            <a:ext cx="7931700" cy="1718400"/>
          </a:xfrm>
          <a:prstGeom prst="roundRect">
            <a:avLst>
              <a:gd fmla="val 4376" name="adj"/>
            </a:avLst>
          </a:prstGeom>
          <a:solidFill>
            <a:srgbClr val="1F3240"/>
          </a:solidFill>
          <a:ln>
            <a:noFill/>
          </a:ln>
          <a:effectLst>
            <a:outerShdw blurRad="171450" rotWithShape="0" algn="bl" dir="5400000" dist="571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7"/>
          <p:cNvSpPr/>
          <p:nvPr/>
        </p:nvSpPr>
        <p:spPr>
          <a:xfrm>
            <a:off x="753525" y="1480175"/>
            <a:ext cx="134700" cy="131400"/>
          </a:xfrm>
          <a:prstGeom prst="ellipse">
            <a:avLst/>
          </a:prstGeom>
          <a:solidFill>
            <a:srgbClr val="E0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7"/>
          <p:cNvSpPr/>
          <p:nvPr/>
        </p:nvSpPr>
        <p:spPr>
          <a:xfrm>
            <a:off x="971175" y="1480175"/>
            <a:ext cx="134700" cy="1314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7"/>
          <p:cNvSpPr/>
          <p:nvPr/>
        </p:nvSpPr>
        <p:spPr>
          <a:xfrm>
            <a:off x="1188825" y="1480175"/>
            <a:ext cx="134700" cy="131400"/>
          </a:xfrm>
          <a:prstGeom prst="ellipse">
            <a:avLst/>
          </a:prstGeom>
          <a:solidFill>
            <a:srgbClr val="6AA8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7"/>
          <p:cNvSpPr txBox="1"/>
          <p:nvPr/>
        </p:nvSpPr>
        <p:spPr>
          <a:xfrm>
            <a:off x="2438575" y="1758838"/>
            <a:ext cx="5115300" cy="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900">
                <a:solidFill>
                  <a:srgbClr val="EFEFEF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Nossa implementação</a:t>
            </a:r>
            <a:endParaRPr b="1" sz="2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" name="Google Shape;105;p17"/>
          <p:cNvSpPr txBox="1"/>
          <p:nvPr/>
        </p:nvSpPr>
        <p:spPr>
          <a:xfrm>
            <a:off x="1590175" y="1758838"/>
            <a:ext cx="848400" cy="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100">
                <a:solidFill>
                  <a:srgbClr val="3C78D8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02</a:t>
            </a:r>
            <a:endParaRPr sz="4100">
              <a:solidFill>
                <a:srgbClr val="3C78D8"/>
              </a:solidFill>
              <a:latin typeface="Roboto Mono SemiBold"/>
              <a:ea typeface="Roboto Mono SemiBold"/>
              <a:cs typeface="Roboto Mono SemiBold"/>
              <a:sym typeface="Roboto Mono Semi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8"/>
          <p:cNvSpPr/>
          <p:nvPr/>
        </p:nvSpPr>
        <p:spPr>
          <a:xfrm>
            <a:off x="606150" y="809975"/>
            <a:ext cx="7931700" cy="3981000"/>
          </a:xfrm>
          <a:prstGeom prst="roundRect">
            <a:avLst>
              <a:gd fmla="val 4376" name="adj"/>
            </a:avLst>
          </a:prstGeom>
          <a:solidFill>
            <a:srgbClr val="1F3240"/>
          </a:solidFill>
          <a:ln>
            <a:noFill/>
          </a:ln>
          <a:effectLst>
            <a:outerShdw blurRad="171450" rotWithShape="0" algn="bl" dir="5400000" dist="571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8"/>
          <p:cNvSpPr/>
          <p:nvPr/>
        </p:nvSpPr>
        <p:spPr>
          <a:xfrm>
            <a:off x="753525" y="961450"/>
            <a:ext cx="134700" cy="131400"/>
          </a:xfrm>
          <a:prstGeom prst="ellipse">
            <a:avLst/>
          </a:prstGeom>
          <a:solidFill>
            <a:srgbClr val="E0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8"/>
          <p:cNvSpPr/>
          <p:nvPr/>
        </p:nvSpPr>
        <p:spPr>
          <a:xfrm>
            <a:off x="971175" y="961450"/>
            <a:ext cx="134700" cy="1314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8"/>
          <p:cNvSpPr/>
          <p:nvPr/>
        </p:nvSpPr>
        <p:spPr>
          <a:xfrm>
            <a:off x="1188825" y="961450"/>
            <a:ext cx="134700" cy="131400"/>
          </a:xfrm>
          <a:prstGeom prst="ellipse">
            <a:avLst/>
          </a:prstGeom>
          <a:solidFill>
            <a:srgbClr val="6AA8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8"/>
          <p:cNvSpPr txBox="1"/>
          <p:nvPr/>
        </p:nvSpPr>
        <p:spPr>
          <a:xfrm>
            <a:off x="606150" y="205275"/>
            <a:ext cx="6080700" cy="5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900">
                <a:solidFill>
                  <a:srgbClr val="EFEFEF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Random Forest</a:t>
            </a:r>
            <a:endParaRPr sz="2900">
              <a:solidFill>
                <a:srgbClr val="EFEFEF"/>
              </a:solidFill>
              <a:latin typeface="Roboto Mono SemiBold"/>
              <a:ea typeface="Roboto Mono SemiBold"/>
              <a:cs typeface="Roboto Mono SemiBold"/>
              <a:sym typeface="Roboto Mono SemiBold"/>
            </a:endParaRPr>
          </a:p>
        </p:txBody>
      </p:sp>
      <p:sp>
        <p:nvSpPr>
          <p:cNvPr id="115" name="Google Shape;115;p18"/>
          <p:cNvSpPr txBox="1"/>
          <p:nvPr/>
        </p:nvSpPr>
        <p:spPr>
          <a:xfrm>
            <a:off x="867900" y="1285925"/>
            <a:ext cx="7408200" cy="326460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pt-BR" sz="95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// Decision Tree operations</a:t>
            </a:r>
            <a:endParaRPr sz="9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9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DecisionTree</a:t>
            </a:r>
            <a:r>
              <a:rPr b="1" lang="pt-BR" sz="95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*</a:t>
            </a:r>
            <a:r>
              <a:rPr lang="pt-BR" sz="9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pt-BR" sz="950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create_decision_tree</a:t>
            </a:r>
            <a:r>
              <a:rPr lang="pt-BR" sz="95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pt-BR" sz="950">
                <a:solidFill>
                  <a:srgbClr val="008050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pt-BR" sz="9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pt-BR" sz="9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max_depth</a:t>
            </a:r>
            <a:r>
              <a:rPr lang="pt-BR" sz="950"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pt-BR" sz="950">
                <a:solidFill>
                  <a:srgbClr val="008050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pt-BR" sz="9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pt-BR" sz="9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min_samples_split</a:t>
            </a:r>
            <a:r>
              <a:rPr lang="pt-BR" sz="950"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9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950">
                <a:solidFill>
                  <a:srgbClr val="008050"/>
                </a:solidFill>
                <a:latin typeface="Roboto Mono"/>
                <a:ea typeface="Roboto Mono"/>
                <a:cs typeface="Roboto Mono"/>
                <a:sym typeface="Roboto Mono"/>
              </a:rPr>
              <a:t>void</a:t>
            </a:r>
            <a:r>
              <a:rPr lang="pt-BR" sz="9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pt-BR" sz="950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free_decision_tree</a:t>
            </a:r>
            <a:r>
              <a:rPr lang="pt-BR" sz="95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pt-BR" sz="9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DecisionTree</a:t>
            </a:r>
            <a:r>
              <a:rPr b="1" lang="pt-BR" sz="95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*</a:t>
            </a:r>
            <a:r>
              <a:rPr lang="pt-BR" sz="9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pt-BR" sz="9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tree</a:t>
            </a:r>
            <a:r>
              <a:rPr lang="pt-BR" sz="950"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9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950">
                <a:solidFill>
                  <a:srgbClr val="008050"/>
                </a:solidFill>
                <a:latin typeface="Roboto Mono"/>
                <a:ea typeface="Roboto Mono"/>
                <a:cs typeface="Roboto Mono"/>
                <a:sym typeface="Roboto Mono"/>
              </a:rPr>
              <a:t>void</a:t>
            </a:r>
            <a:r>
              <a:rPr lang="pt-BR" sz="9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pt-BR" sz="950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train_decision_tree</a:t>
            </a:r>
            <a:r>
              <a:rPr lang="pt-BR" sz="95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pt-BR" sz="9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DecisionTree</a:t>
            </a:r>
            <a:r>
              <a:rPr b="1" lang="pt-BR" sz="95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*</a:t>
            </a:r>
            <a:r>
              <a:rPr lang="pt-BR" sz="9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pt-BR" sz="9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tree</a:t>
            </a:r>
            <a:r>
              <a:rPr lang="pt-BR" sz="950"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pt-BR" sz="9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Dataset</a:t>
            </a:r>
            <a:r>
              <a:rPr b="1" lang="pt-BR" sz="95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*</a:t>
            </a:r>
            <a:r>
              <a:rPr lang="pt-BR" sz="9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pt-BR" sz="9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data</a:t>
            </a:r>
            <a:r>
              <a:rPr lang="pt-BR" sz="950"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pt-BR" sz="950">
                <a:solidFill>
                  <a:srgbClr val="008050"/>
                </a:solidFill>
                <a:latin typeface="Roboto Mono"/>
                <a:ea typeface="Roboto Mono"/>
                <a:cs typeface="Roboto Mono"/>
                <a:sym typeface="Roboto Mono"/>
              </a:rPr>
              <a:t>int*</a:t>
            </a:r>
            <a:r>
              <a:rPr lang="pt-BR" sz="9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pt-BR" sz="9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feature_indices</a:t>
            </a:r>
            <a:r>
              <a:rPr lang="pt-BR" sz="950"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pt-BR" sz="950">
                <a:solidFill>
                  <a:srgbClr val="008050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pt-BR" sz="9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pt-BR" sz="9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n_features</a:t>
            </a:r>
            <a:r>
              <a:rPr lang="pt-BR" sz="950"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9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950">
                <a:solidFill>
                  <a:srgbClr val="008050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pt-BR" sz="9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pt-BR" sz="950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predict_tree</a:t>
            </a:r>
            <a:r>
              <a:rPr lang="pt-BR" sz="95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pt-BR" sz="9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DecisionTree</a:t>
            </a:r>
            <a:r>
              <a:rPr b="1" lang="pt-BR" sz="95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*</a:t>
            </a:r>
            <a:r>
              <a:rPr lang="pt-BR" sz="9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pt-BR" sz="9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tree</a:t>
            </a:r>
            <a:r>
              <a:rPr lang="pt-BR" sz="950"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pt-BR" sz="950">
                <a:solidFill>
                  <a:srgbClr val="008050"/>
                </a:solidFill>
                <a:latin typeface="Roboto Mono"/>
                <a:ea typeface="Roboto Mono"/>
                <a:cs typeface="Roboto Mono"/>
                <a:sym typeface="Roboto Mono"/>
              </a:rPr>
              <a:t>double*</a:t>
            </a:r>
            <a:r>
              <a:rPr lang="pt-BR" sz="9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pt-BR" sz="9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sample</a:t>
            </a:r>
            <a:r>
              <a:rPr lang="pt-BR" sz="950"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9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950">
                <a:solidFill>
                  <a:srgbClr val="008050"/>
                </a:solidFill>
                <a:latin typeface="Roboto Mono"/>
                <a:ea typeface="Roboto Mono"/>
                <a:cs typeface="Roboto Mono"/>
                <a:sym typeface="Roboto Mono"/>
              </a:rPr>
              <a:t>double</a:t>
            </a:r>
            <a:r>
              <a:rPr lang="pt-BR" sz="9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pt-BR" sz="950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calculate_gini_impurity</a:t>
            </a:r>
            <a:r>
              <a:rPr lang="pt-BR" sz="95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pt-BR" sz="950">
                <a:solidFill>
                  <a:srgbClr val="008050"/>
                </a:solidFill>
                <a:latin typeface="Roboto Mono"/>
                <a:ea typeface="Roboto Mono"/>
                <a:cs typeface="Roboto Mono"/>
                <a:sym typeface="Roboto Mono"/>
              </a:rPr>
              <a:t>int*</a:t>
            </a:r>
            <a:r>
              <a:rPr lang="pt-BR" sz="9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pt-BR" sz="9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labels</a:t>
            </a:r>
            <a:r>
              <a:rPr lang="pt-BR" sz="950"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pt-BR" sz="950">
                <a:solidFill>
                  <a:srgbClr val="008050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pt-BR" sz="9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pt-BR" sz="9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n_samples</a:t>
            </a:r>
            <a:r>
              <a:rPr lang="pt-BR" sz="950"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9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950">
                <a:solidFill>
                  <a:srgbClr val="008050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pt-BR" sz="9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pt-BR" sz="950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find_best_split</a:t>
            </a:r>
            <a:r>
              <a:rPr lang="pt-BR" sz="95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pt-BR" sz="9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Dataset</a:t>
            </a:r>
            <a:r>
              <a:rPr b="1" lang="pt-BR" sz="95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*</a:t>
            </a:r>
            <a:r>
              <a:rPr lang="pt-BR" sz="9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pt-BR" sz="9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data</a:t>
            </a:r>
            <a:r>
              <a:rPr lang="pt-BR" sz="950"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pt-BR" sz="950">
                <a:solidFill>
                  <a:srgbClr val="008050"/>
                </a:solidFill>
                <a:latin typeface="Roboto Mono"/>
                <a:ea typeface="Roboto Mono"/>
                <a:cs typeface="Roboto Mono"/>
                <a:sym typeface="Roboto Mono"/>
              </a:rPr>
              <a:t>int*</a:t>
            </a:r>
            <a:r>
              <a:rPr lang="pt-BR" sz="9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pt-BR" sz="9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indices</a:t>
            </a:r>
            <a:r>
              <a:rPr lang="pt-BR" sz="950"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pt-BR" sz="950">
                <a:solidFill>
                  <a:srgbClr val="008050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pt-BR" sz="9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pt-BR" sz="9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n_samples</a:t>
            </a:r>
            <a:r>
              <a:rPr lang="pt-BR" sz="950"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pt-BR" sz="950">
                <a:solidFill>
                  <a:srgbClr val="008050"/>
                </a:solidFill>
                <a:latin typeface="Roboto Mono"/>
                <a:ea typeface="Roboto Mono"/>
                <a:cs typeface="Roboto Mono"/>
                <a:sym typeface="Roboto Mono"/>
              </a:rPr>
              <a:t>int*</a:t>
            </a:r>
            <a:r>
              <a:rPr lang="pt-BR" sz="9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pt-BR" sz="9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feature_indices</a:t>
            </a:r>
            <a:r>
              <a:rPr lang="pt-BR" sz="950"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9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950">
                <a:latin typeface="Roboto Mono"/>
                <a:ea typeface="Roboto Mono"/>
                <a:cs typeface="Roboto Mono"/>
                <a:sym typeface="Roboto Mono"/>
              </a:rPr>
              <a:t>                  </a:t>
            </a:r>
            <a:r>
              <a:rPr lang="pt-BR" sz="950">
                <a:solidFill>
                  <a:srgbClr val="008050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pt-BR" sz="9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pt-BR" sz="9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n_features</a:t>
            </a:r>
            <a:r>
              <a:rPr lang="pt-BR" sz="950"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pt-BR" sz="950">
                <a:solidFill>
                  <a:srgbClr val="008050"/>
                </a:solidFill>
                <a:latin typeface="Roboto Mono"/>
                <a:ea typeface="Roboto Mono"/>
                <a:cs typeface="Roboto Mono"/>
                <a:sym typeface="Roboto Mono"/>
              </a:rPr>
              <a:t>int*</a:t>
            </a:r>
            <a:r>
              <a:rPr lang="pt-BR" sz="9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pt-BR" sz="9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best_feature</a:t>
            </a:r>
            <a:r>
              <a:rPr lang="pt-BR" sz="950"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pt-BR" sz="950">
                <a:solidFill>
                  <a:srgbClr val="008050"/>
                </a:solidFill>
                <a:latin typeface="Roboto Mono"/>
                <a:ea typeface="Roboto Mono"/>
                <a:cs typeface="Roboto Mono"/>
                <a:sym typeface="Roboto Mono"/>
              </a:rPr>
              <a:t>double*</a:t>
            </a:r>
            <a:r>
              <a:rPr lang="pt-BR" sz="9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pt-BR" sz="9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best_threshold</a:t>
            </a:r>
            <a:r>
              <a:rPr lang="pt-BR" sz="950"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9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pt-BR" sz="95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// Random Forest operations</a:t>
            </a:r>
            <a:endParaRPr sz="9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9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RandomForest</a:t>
            </a:r>
            <a:r>
              <a:rPr b="1" lang="pt-BR" sz="95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*</a:t>
            </a:r>
            <a:r>
              <a:rPr lang="pt-BR" sz="9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pt-BR" sz="950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create_random_forest</a:t>
            </a:r>
            <a:r>
              <a:rPr lang="pt-BR" sz="95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pt-BR" sz="950">
                <a:solidFill>
                  <a:srgbClr val="008050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pt-BR" sz="9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pt-BR" sz="9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n_trees</a:t>
            </a:r>
            <a:r>
              <a:rPr lang="pt-BR" sz="950"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pt-BR" sz="950">
                <a:solidFill>
                  <a:srgbClr val="008050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pt-BR" sz="9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pt-BR" sz="9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max_depth</a:t>
            </a:r>
            <a:r>
              <a:rPr lang="pt-BR" sz="950"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pt-BR" sz="950">
                <a:solidFill>
                  <a:srgbClr val="008050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pt-BR" sz="9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pt-BR" sz="9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min_samples_split</a:t>
            </a:r>
            <a:r>
              <a:rPr lang="pt-BR" sz="950"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pt-BR" sz="950">
                <a:solidFill>
                  <a:srgbClr val="008050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pt-BR" sz="9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pt-BR" sz="9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n_features_per_tree</a:t>
            </a:r>
            <a:r>
              <a:rPr lang="pt-BR" sz="950"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9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950">
                <a:solidFill>
                  <a:srgbClr val="008050"/>
                </a:solidFill>
                <a:latin typeface="Roboto Mono"/>
                <a:ea typeface="Roboto Mono"/>
                <a:cs typeface="Roboto Mono"/>
                <a:sym typeface="Roboto Mono"/>
              </a:rPr>
              <a:t>void</a:t>
            </a:r>
            <a:r>
              <a:rPr lang="pt-BR" sz="9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pt-BR" sz="950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free_random_forest</a:t>
            </a:r>
            <a:r>
              <a:rPr lang="pt-BR" sz="95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pt-BR" sz="9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RandomForest</a:t>
            </a:r>
            <a:r>
              <a:rPr b="1" lang="pt-BR" sz="95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*</a:t>
            </a:r>
            <a:r>
              <a:rPr lang="pt-BR" sz="9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pt-BR" sz="9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rf</a:t>
            </a:r>
            <a:r>
              <a:rPr lang="pt-BR" sz="950"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9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950">
                <a:solidFill>
                  <a:srgbClr val="008050"/>
                </a:solidFill>
                <a:latin typeface="Roboto Mono"/>
                <a:ea typeface="Roboto Mono"/>
                <a:cs typeface="Roboto Mono"/>
                <a:sym typeface="Roboto Mono"/>
              </a:rPr>
              <a:t>void</a:t>
            </a:r>
            <a:r>
              <a:rPr lang="pt-BR" sz="9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pt-BR" sz="950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train_random_forest</a:t>
            </a:r>
            <a:r>
              <a:rPr lang="pt-BR" sz="95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pt-BR" sz="9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RandomForest</a:t>
            </a:r>
            <a:r>
              <a:rPr b="1" lang="pt-BR" sz="95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*</a:t>
            </a:r>
            <a:r>
              <a:rPr lang="pt-BR" sz="9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pt-BR" sz="9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rf</a:t>
            </a:r>
            <a:r>
              <a:rPr lang="pt-BR" sz="950"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pt-BR" sz="9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Dataset</a:t>
            </a:r>
            <a:r>
              <a:rPr b="1" lang="pt-BR" sz="95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*</a:t>
            </a:r>
            <a:r>
              <a:rPr lang="pt-BR" sz="9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pt-BR" sz="9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training_data</a:t>
            </a:r>
            <a:r>
              <a:rPr lang="pt-BR" sz="950"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9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950">
                <a:solidFill>
                  <a:srgbClr val="008050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pt-BR" sz="9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pt-BR" sz="950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predict_random_forest</a:t>
            </a:r>
            <a:r>
              <a:rPr lang="pt-BR" sz="95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pt-BR" sz="9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RandomForest</a:t>
            </a:r>
            <a:r>
              <a:rPr b="1" lang="pt-BR" sz="95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*</a:t>
            </a:r>
            <a:r>
              <a:rPr lang="pt-BR" sz="9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pt-BR" sz="9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rf</a:t>
            </a:r>
            <a:r>
              <a:rPr lang="pt-BR" sz="950"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pt-BR" sz="950">
                <a:solidFill>
                  <a:srgbClr val="008050"/>
                </a:solidFill>
                <a:latin typeface="Roboto Mono"/>
                <a:ea typeface="Roboto Mono"/>
                <a:cs typeface="Roboto Mono"/>
                <a:sym typeface="Roboto Mono"/>
              </a:rPr>
              <a:t>double*</a:t>
            </a:r>
            <a:r>
              <a:rPr lang="pt-BR" sz="9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pt-BR" sz="9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sample</a:t>
            </a:r>
            <a:r>
              <a:rPr lang="pt-BR" sz="950"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9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950">
                <a:solidFill>
                  <a:srgbClr val="008050"/>
                </a:solidFill>
                <a:latin typeface="Roboto Mono"/>
                <a:ea typeface="Roboto Mono"/>
                <a:cs typeface="Roboto Mono"/>
                <a:sym typeface="Roboto Mono"/>
              </a:rPr>
              <a:t>double</a:t>
            </a:r>
            <a:r>
              <a:rPr lang="pt-BR" sz="9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pt-BR" sz="950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evaluate_accuracy</a:t>
            </a:r>
            <a:r>
              <a:rPr lang="pt-BR" sz="95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pt-BR" sz="9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RandomForest</a:t>
            </a:r>
            <a:r>
              <a:rPr b="1" lang="pt-BR" sz="95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*</a:t>
            </a:r>
            <a:r>
              <a:rPr lang="pt-BR" sz="9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pt-BR" sz="9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rf</a:t>
            </a:r>
            <a:r>
              <a:rPr lang="pt-BR" sz="950"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pt-BR" sz="9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Dataset</a:t>
            </a:r>
            <a:r>
              <a:rPr b="1" lang="pt-BR" sz="95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*</a:t>
            </a:r>
            <a:r>
              <a:rPr lang="pt-BR" sz="9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pt-BR" sz="95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test_data</a:t>
            </a:r>
            <a:r>
              <a:rPr lang="pt-BR" sz="950"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9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/>
          <p:nvPr/>
        </p:nvSpPr>
        <p:spPr>
          <a:xfrm>
            <a:off x="606150" y="1328700"/>
            <a:ext cx="7931700" cy="1718400"/>
          </a:xfrm>
          <a:prstGeom prst="roundRect">
            <a:avLst>
              <a:gd fmla="val 4376" name="adj"/>
            </a:avLst>
          </a:prstGeom>
          <a:solidFill>
            <a:srgbClr val="1F3240"/>
          </a:solidFill>
          <a:ln>
            <a:noFill/>
          </a:ln>
          <a:effectLst>
            <a:outerShdw blurRad="171450" rotWithShape="0" algn="bl" dir="5400000" dist="571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9"/>
          <p:cNvSpPr/>
          <p:nvPr/>
        </p:nvSpPr>
        <p:spPr>
          <a:xfrm>
            <a:off x="753525" y="1480175"/>
            <a:ext cx="134700" cy="131400"/>
          </a:xfrm>
          <a:prstGeom prst="ellipse">
            <a:avLst/>
          </a:prstGeom>
          <a:solidFill>
            <a:srgbClr val="E0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9"/>
          <p:cNvSpPr/>
          <p:nvPr/>
        </p:nvSpPr>
        <p:spPr>
          <a:xfrm>
            <a:off x="971175" y="1480175"/>
            <a:ext cx="134700" cy="1314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9"/>
          <p:cNvSpPr/>
          <p:nvPr/>
        </p:nvSpPr>
        <p:spPr>
          <a:xfrm>
            <a:off x="1188825" y="1480175"/>
            <a:ext cx="134700" cy="131400"/>
          </a:xfrm>
          <a:prstGeom prst="ellipse">
            <a:avLst/>
          </a:prstGeom>
          <a:solidFill>
            <a:srgbClr val="6AA8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9"/>
          <p:cNvSpPr txBox="1"/>
          <p:nvPr/>
        </p:nvSpPr>
        <p:spPr>
          <a:xfrm>
            <a:off x="2438575" y="1758838"/>
            <a:ext cx="5115300" cy="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900">
                <a:solidFill>
                  <a:srgbClr val="EFEFEF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Paralelização</a:t>
            </a:r>
            <a:endParaRPr b="1" sz="2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" name="Google Shape;125;p19"/>
          <p:cNvSpPr txBox="1"/>
          <p:nvPr/>
        </p:nvSpPr>
        <p:spPr>
          <a:xfrm>
            <a:off x="1590175" y="1758838"/>
            <a:ext cx="848400" cy="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100">
                <a:solidFill>
                  <a:srgbClr val="3C78D8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03</a:t>
            </a:r>
            <a:endParaRPr sz="4100">
              <a:solidFill>
                <a:srgbClr val="3C78D8"/>
              </a:solidFill>
              <a:latin typeface="Roboto Mono SemiBold"/>
              <a:ea typeface="Roboto Mono SemiBold"/>
              <a:cs typeface="Roboto Mono SemiBold"/>
              <a:sym typeface="Roboto Mono SemiBo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0"/>
          <p:cNvSpPr/>
          <p:nvPr/>
        </p:nvSpPr>
        <p:spPr>
          <a:xfrm>
            <a:off x="606150" y="809975"/>
            <a:ext cx="7931700" cy="3981000"/>
          </a:xfrm>
          <a:prstGeom prst="roundRect">
            <a:avLst>
              <a:gd fmla="val 4376" name="adj"/>
            </a:avLst>
          </a:prstGeom>
          <a:solidFill>
            <a:srgbClr val="1F3240"/>
          </a:solidFill>
          <a:ln>
            <a:noFill/>
          </a:ln>
          <a:effectLst>
            <a:outerShdw blurRad="171450" rotWithShape="0" algn="bl" dir="5400000" dist="571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20"/>
          <p:cNvSpPr/>
          <p:nvPr/>
        </p:nvSpPr>
        <p:spPr>
          <a:xfrm>
            <a:off x="753525" y="961450"/>
            <a:ext cx="134700" cy="131400"/>
          </a:xfrm>
          <a:prstGeom prst="ellipse">
            <a:avLst/>
          </a:prstGeom>
          <a:solidFill>
            <a:srgbClr val="E0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20"/>
          <p:cNvSpPr/>
          <p:nvPr/>
        </p:nvSpPr>
        <p:spPr>
          <a:xfrm>
            <a:off x="971175" y="961450"/>
            <a:ext cx="134700" cy="1314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20"/>
          <p:cNvSpPr/>
          <p:nvPr/>
        </p:nvSpPr>
        <p:spPr>
          <a:xfrm>
            <a:off x="1188825" y="961450"/>
            <a:ext cx="134700" cy="131400"/>
          </a:xfrm>
          <a:prstGeom prst="ellipse">
            <a:avLst/>
          </a:prstGeom>
          <a:solidFill>
            <a:srgbClr val="6AA8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0"/>
          <p:cNvSpPr txBox="1"/>
          <p:nvPr/>
        </p:nvSpPr>
        <p:spPr>
          <a:xfrm>
            <a:off x="606150" y="205275"/>
            <a:ext cx="6080700" cy="5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900">
                <a:solidFill>
                  <a:srgbClr val="EFEFEF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Paralelização</a:t>
            </a:r>
            <a:endParaRPr sz="2900">
              <a:solidFill>
                <a:srgbClr val="EFEFEF"/>
              </a:solidFill>
              <a:latin typeface="Roboto Mono SemiBold"/>
              <a:ea typeface="Roboto Mono SemiBold"/>
              <a:cs typeface="Roboto Mono SemiBold"/>
              <a:sym typeface="Roboto Mono SemiBold"/>
            </a:endParaRPr>
          </a:p>
        </p:txBody>
      </p:sp>
      <p:sp>
        <p:nvSpPr>
          <p:cNvPr id="135" name="Google Shape;135;p20"/>
          <p:cNvSpPr txBox="1"/>
          <p:nvPr/>
        </p:nvSpPr>
        <p:spPr>
          <a:xfrm>
            <a:off x="847500" y="1073075"/>
            <a:ext cx="7449000" cy="34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F3F3F3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O programa foi paralelizado em diversos pontos, entre eles:</a:t>
            </a:r>
            <a:endParaRPr sz="1300">
              <a:solidFill>
                <a:srgbClr val="F3F3F3"/>
              </a:solidFill>
              <a:latin typeface="Roboto Mono SemiBold"/>
              <a:ea typeface="Roboto Mono SemiBold"/>
              <a:cs typeface="Roboto Mono SemiBold"/>
              <a:sym typeface="Roboto Mono SemiBold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F3F3F3"/>
              </a:buClr>
              <a:buSzPts val="1300"/>
              <a:buFont typeface="Roboto Mono SemiBold"/>
              <a:buChar char="●"/>
            </a:pPr>
            <a:r>
              <a:rPr lang="pt-BR" sz="1300">
                <a:solidFill>
                  <a:schemeClr val="accent1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Paralelização do Treinamento de Árvores:</a:t>
            </a:r>
            <a:r>
              <a:rPr lang="pt-BR" sz="1300">
                <a:solidFill>
                  <a:srgbClr val="F3F3F3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 A construção das várias árvores da floresta foi divida entre as threads.</a:t>
            </a:r>
            <a:endParaRPr sz="1300">
              <a:solidFill>
                <a:srgbClr val="B6D7A8"/>
              </a:solidFill>
              <a:latin typeface="Roboto Mono SemiBold"/>
              <a:ea typeface="Roboto Mono SemiBold"/>
              <a:cs typeface="Roboto Mono SemiBold"/>
              <a:sym typeface="Roboto Mono SemiBold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300"/>
              <a:buFont typeface="Roboto Mono SemiBold"/>
              <a:buChar char="●"/>
            </a:pPr>
            <a:r>
              <a:rPr lang="pt-BR" sz="1300">
                <a:solidFill>
                  <a:schemeClr val="accent1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Paralelização da busca pelo melhor split: </a:t>
            </a:r>
            <a:r>
              <a:rPr lang="pt-BR" sz="1300">
                <a:solidFill>
                  <a:srgbClr val="F3F3F3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A cada divisão do nó, todos os splits são testados a fim de encontrar o melhor, essa busca foi divida entre as threads</a:t>
            </a:r>
            <a:endParaRPr sz="1300">
              <a:solidFill>
                <a:srgbClr val="F3F3F3"/>
              </a:solidFill>
              <a:latin typeface="Roboto Mono SemiBold"/>
              <a:ea typeface="Roboto Mono SemiBold"/>
              <a:cs typeface="Roboto Mono SemiBold"/>
              <a:sym typeface="Roboto Mono SemiBold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300"/>
              <a:buFont typeface="Roboto Mono SemiBold"/>
              <a:buChar char="●"/>
            </a:pPr>
            <a:r>
              <a:rPr lang="pt-BR" sz="1300">
                <a:solidFill>
                  <a:schemeClr val="accent1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Paralelização da predição:</a:t>
            </a:r>
            <a:r>
              <a:rPr lang="pt-BR" sz="1300">
                <a:solidFill>
                  <a:srgbClr val="F3F3F3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 O processo de inferência foi paralelizado. Cada thread processa um subconjunto de árvores da floresta</a:t>
            </a:r>
            <a:endParaRPr sz="1300">
              <a:solidFill>
                <a:srgbClr val="F3F3F3"/>
              </a:solidFill>
              <a:latin typeface="Roboto Mono SemiBold"/>
              <a:ea typeface="Roboto Mono SemiBold"/>
              <a:cs typeface="Roboto Mono SemiBold"/>
              <a:sym typeface="Roboto Mono SemiBold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300"/>
              <a:buFont typeface="Roboto Mono SemiBold"/>
              <a:buChar char="●"/>
            </a:pPr>
            <a:r>
              <a:rPr lang="pt-BR" sz="1300">
                <a:solidFill>
                  <a:schemeClr val="accent1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Paralelização da avaliação de acurácia:</a:t>
            </a:r>
            <a:r>
              <a:rPr lang="pt-BR" sz="1300">
                <a:solidFill>
                  <a:srgbClr val="F3F3F3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 A contagem de predições corretas também foi paralelizada</a:t>
            </a:r>
            <a:endParaRPr sz="1300">
              <a:solidFill>
                <a:srgbClr val="F3F3F3"/>
              </a:solidFill>
              <a:latin typeface="Roboto Mono SemiBold"/>
              <a:ea typeface="Roboto Mono SemiBold"/>
              <a:cs typeface="Roboto Mono SemiBold"/>
              <a:sym typeface="Roboto Mono SemiBold"/>
            </a:endParaRPr>
          </a:p>
          <a:p>
            <a:pPr indent="0" lvl="0" marL="0" rtl="0" algn="l">
              <a:lnSpc>
                <a:spcPct val="135714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F3F3F3"/>
              </a:solidFill>
              <a:latin typeface="Roboto Mono SemiBold"/>
              <a:ea typeface="Roboto Mono SemiBold"/>
              <a:cs typeface="Roboto Mono SemiBold"/>
              <a:sym typeface="Roboto Mono Semi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rgbClr val="EFEFEF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 </a:t>
            </a:r>
            <a:endParaRPr sz="1500">
              <a:solidFill>
                <a:srgbClr val="EFEFEF"/>
              </a:solidFill>
              <a:latin typeface="Roboto Mono SemiBold"/>
              <a:ea typeface="Roboto Mono SemiBold"/>
              <a:cs typeface="Roboto Mono SemiBold"/>
              <a:sym typeface="Roboto Mono SemiBo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1"/>
          <p:cNvSpPr/>
          <p:nvPr/>
        </p:nvSpPr>
        <p:spPr>
          <a:xfrm>
            <a:off x="606150" y="809975"/>
            <a:ext cx="7931700" cy="3981000"/>
          </a:xfrm>
          <a:prstGeom prst="roundRect">
            <a:avLst>
              <a:gd fmla="val 4376" name="adj"/>
            </a:avLst>
          </a:prstGeom>
          <a:solidFill>
            <a:srgbClr val="1F3240"/>
          </a:solidFill>
          <a:ln>
            <a:noFill/>
          </a:ln>
          <a:effectLst>
            <a:outerShdw blurRad="171450" rotWithShape="0" algn="bl" dir="5400000" dist="571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21"/>
          <p:cNvSpPr/>
          <p:nvPr/>
        </p:nvSpPr>
        <p:spPr>
          <a:xfrm>
            <a:off x="753525" y="961450"/>
            <a:ext cx="134700" cy="131400"/>
          </a:xfrm>
          <a:prstGeom prst="ellipse">
            <a:avLst/>
          </a:prstGeom>
          <a:solidFill>
            <a:srgbClr val="E0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1"/>
          <p:cNvSpPr/>
          <p:nvPr/>
        </p:nvSpPr>
        <p:spPr>
          <a:xfrm>
            <a:off x="971175" y="961450"/>
            <a:ext cx="134700" cy="1314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1"/>
          <p:cNvSpPr/>
          <p:nvPr/>
        </p:nvSpPr>
        <p:spPr>
          <a:xfrm>
            <a:off x="1188825" y="961450"/>
            <a:ext cx="134700" cy="131400"/>
          </a:xfrm>
          <a:prstGeom prst="ellipse">
            <a:avLst/>
          </a:prstGeom>
          <a:solidFill>
            <a:srgbClr val="6AA8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21"/>
          <p:cNvSpPr txBox="1"/>
          <p:nvPr/>
        </p:nvSpPr>
        <p:spPr>
          <a:xfrm>
            <a:off x="606150" y="205275"/>
            <a:ext cx="6080700" cy="5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900">
                <a:solidFill>
                  <a:srgbClr val="EFEFEF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Construção da floresta</a:t>
            </a:r>
            <a:endParaRPr sz="2900">
              <a:solidFill>
                <a:srgbClr val="EFEFEF"/>
              </a:solidFill>
              <a:latin typeface="Roboto Mono SemiBold"/>
              <a:ea typeface="Roboto Mono SemiBold"/>
              <a:cs typeface="Roboto Mono SemiBold"/>
              <a:sym typeface="Roboto Mono SemiBold"/>
            </a:endParaRPr>
          </a:p>
        </p:txBody>
      </p:sp>
      <p:pic>
        <p:nvPicPr>
          <p:cNvPr id="145" name="Google Shape;145;p21" title="Screenshot from 2025-10-04 16-48-4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24299" y="966225"/>
            <a:ext cx="5295401" cy="3668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2"/>
          <p:cNvSpPr/>
          <p:nvPr/>
        </p:nvSpPr>
        <p:spPr>
          <a:xfrm>
            <a:off x="606150" y="809975"/>
            <a:ext cx="7931700" cy="3981000"/>
          </a:xfrm>
          <a:prstGeom prst="roundRect">
            <a:avLst>
              <a:gd fmla="val 4376" name="adj"/>
            </a:avLst>
          </a:prstGeom>
          <a:solidFill>
            <a:srgbClr val="1F3240"/>
          </a:solidFill>
          <a:ln>
            <a:noFill/>
          </a:ln>
          <a:effectLst>
            <a:outerShdw blurRad="171450" rotWithShape="0" algn="bl" dir="5400000" dist="571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2"/>
          <p:cNvSpPr/>
          <p:nvPr/>
        </p:nvSpPr>
        <p:spPr>
          <a:xfrm>
            <a:off x="753525" y="961450"/>
            <a:ext cx="134700" cy="131400"/>
          </a:xfrm>
          <a:prstGeom prst="ellipse">
            <a:avLst/>
          </a:prstGeom>
          <a:solidFill>
            <a:srgbClr val="E0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2"/>
          <p:cNvSpPr/>
          <p:nvPr/>
        </p:nvSpPr>
        <p:spPr>
          <a:xfrm>
            <a:off x="971175" y="961450"/>
            <a:ext cx="134700" cy="1314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22"/>
          <p:cNvSpPr/>
          <p:nvPr/>
        </p:nvSpPr>
        <p:spPr>
          <a:xfrm>
            <a:off x="1188825" y="961450"/>
            <a:ext cx="134700" cy="131400"/>
          </a:xfrm>
          <a:prstGeom prst="ellipse">
            <a:avLst/>
          </a:prstGeom>
          <a:solidFill>
            <a:srgbClr val="6AA8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22"/>
          <p:cNvSpPr txBox="1"/>
          <p:nvPr/>
        </p:nvSpPr>
        <p:spPr>
          <a:xfrm>
            <a:off x="606150" y="205275"/>
            <a:ext cx="6080700" cy="5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900">
                <a:solidFill>
                  <a:srgbClr val="EFEFEF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Busca pelo melhor split</a:t>
            </a:r>
            <a:endParaRPr sz="2900">
              <a:solidFill>
                <a:srgbClr val="EFEFEF"/>
              </a:solidFill>
              <a:latin typeface="Roboto Mono SemiBold"/>
              <a:ea typeface="Roboto Mono SemiBold"/>
              <a:cs typeface="Roboto Mono SemiBold"/>
              <a:sym typeface="Roboto Mono SemiBold"/>
            </a:endParaRPr>
          </a:p>
        </p:txBody>
      </p:sp>
      <p:pic>
        <p:nvPicPr>
          <p:cNvPr id="155" name="Google Shape;155;p22" title="Screenshot from 2025-10-04 16-47-5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5013" y="1418188"/>
            <a:ext cx="7353976" cy="2764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3"/>
          <p:cNvSpPr/>
          <p:nvPr/>
        </p:nvSpPr>
        <p:spPr>
          <a:xfrm>
            <a:off x="606150" y="809975"/>
            <a:ext cx="7931700" cy="3981000"/>
          </a:xfrm>
          <a:prstGeom prst="roundRect">
            <a:avLst>
              <a:gd fmla="val 4376" name="adj"/>
            </a:avLst>
          </a:prstGeom>
          <a:solidFill>
            <a:srgbClr val="1F3240"/>
          </a:solidFill>
          <a:ln>
            <a:noFill/>
          </a:ln>
          <a:effectLst>
            <a:outerShdw blurRad="171450" rotWithShape="0" algn="bl" dir="5400000" dist="571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23"/>
          <p:cNvSpPr/>
          <p:nvPr/>
        </p:nvSpPr>
        <p:spPr>
          <a:xfrm>
            <a:off x="753525" y="961450"/>
            <a:ext cx="134700" cy="131400"/>
          </a:xfrm>
          <a:prstGeom prst="ellipse">
            <a:avLst/>
          </a:prstGeom>
          <a:solidFill>
            <a:srgbClr val="E0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3"/>
          <p:cNvSpPr/>
          <p:nvPr/>
        </p:nvSpPr>
        <p:spPr>
          <a:xfrm>
            <a:off x="971175" y="961450"/>
            <a:ext cx="134700" cy="1314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23"/>
          <p:cNvSpPr/>
          <p:nvPr/>
        </p:nvSpPr>
        <p:spPr>
          <a:xfrm>
            <a:off x="1188825" y="961450"/>
            <a:ext cx="134700" cy="131400"/>
          </a:xfrm>
          <a:prstGeom prst="ellipse">
            <a:avLst/>
          </a:prstGeom>
          <a:solidFill>
            <a:srgbClr val="6AA8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23"/>
          <p:cNvSpPr txBox="1"/>
          <p:nvPr/>
        </p:nvSpPr>
        <p:spPr>
          <a:xfrm>
            <a:off x="606150" y="205275"/>
            <a:ext cx="6080700" cy="5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900">
                <a:solidFill>
                  <a:srgbClr val="EFEFEF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Inferência</a:t>
            </a:r>
            <a:endParaRPr sz="2900">
              <a:solidFill>
                <a:srgbClr val="EFEFEF"/>
              </a:solidFill>
              <a:latin typeface="Roboto Mono SemiBold"/>
              <a:ea typeface="Roboto Mono SemiBold"/>
              <a:cs typeface="Roboto Mono SemiBold"/>
              <a:sym typeface="Roboto Mono SemiBold"/>
            </a:endParaRPr>
          </a:p>
        </p:txBody>
      </p:sp>
      <p:pic>
        <p:nvPicPr>
          <p:cNvPr id="165" name="Google Shape;165;p23" title="Screenshot from 2025-10-04 16-55-4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6825" y="1877524"/>
            <a:ext cx="7170350" cy="184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4"/>
          <p:cNvSpPr/>
          <p:nvPr/>
        </p:nvSpPr>
        <p:spPr>
          <a:xfrm>
            <a:off x="606150" y="809975"/>
            <a:ext cx="7931700" cy="3981000"/>
          </a:xfrm>
          <a:prstGeom prst="roundRect">
            <a:avLst>
              <a:gd fmla="val 4376" name="adj"/>
            </a:avLst>
          </a:prstGeom>
          <a:solidFill>
            <a:srgbClr val="1F3240"/>
          </a:solidFill>
          <a:ln>
            <a:noFill/>
          </a:ln>
          <a:effectLst>
            <a:outerShdw blurRad="171450" rotWithShape="0" algn="bl" dir="5400000" dist="571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24"/>
          <p:cNvSpPr/>
          <p:nvPr/>
        </p:nvSpPr>
        <p:spPr>
          <a:xfrm>
            <a:off x="753525" y="961450"/>
            <a:ext cx="134700" cy="131400"/>
          </a:xfrm>
          <a:prstGeom prst="ellipse">
            <a:avLst/>
          </a:prstGeom>
          <a:solidFill>
            <a:srgbClr val="E0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24"/>
          <p:cNvSpPr/>
          <p:nvPr/>
        </p:nvSpPr>
        <p:spPr>
          <a:xfrm>
            <a:off x="971175" y="961450"/>
            <a:ext cx="134700" cy="1314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24"/>
          <p:cNvSpPr/>
          <p:nvPr/>
        </p:nvSpPr>
        <p:spPr>
          <a:xfrm>
            <a:off x="1188825" y="961450"/>
            <a:ext cx="134700" cy="131400"/>
          </a:xfrm>
          <a:prstGeom prst="ellipse">
            <a:avLst/>
          </a:prstGeom>
          <a:solidFill>
            <a:srgbClr val="6AA8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24"/>
          <p:cNvSpPr txBox="1"/>
          <p:nvPr/>
        </p:nvSpPr>
        <p:spPr>
          <a:xfrm>
            <a:off x="606150" y="205275"/>
            <a:ext cx="6080700" cy="5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900">
                <a:solidFill>
                  <a:srgbClr val="EFEFEF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Cálculo da acurácia</a:t>
            </a:r>
            <a:endParaRPr sz="2900">
              <a:solidFill>
                <a:srgbClr val="EFEFEF"/>
              </a:solidFill>
              <a:latin typeface="Roboto Mono SemiBold"/>
              <a:ea typeface="Roboto Mono SemiBold"/>
              <a:cs typeface="Roboto Mono SemiBold"/>
              <a:sym typeface="Roboto Mono SemiBold"/>
            </a:endParaRPr>
          </a:p>
        </p:txBody>
      </p:sp>
      <p:pic>
        <p:nvPicPr>
          <p:cNvPr id="175" name="Google Shape;175;p24" title="Screenshot from 2025-10-04 16-57-3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9800" y="1921888"/>
            <a:ext cx="6964401" cy="17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5"/>
          <p:cNvSpPr/>
          <p:nvPr/>
        </p:nvSpPr>
        <p:spPr>
          <a:xfrm>
            <a:off x="606150" y="1328700"/>
            <a:ext cx="7931700" cy="1718400"/>
          </a:xfrm>
          <a:prstGeom prst="roundRect">
            <a:avLst>
              <a:gd fmla="val 4376" name="adj"/>
            </a:avLst>
          </a:prstGeom>
          <a:solidFill>
            <a:srgbClr val="1F3240"/>
          </a:solidFill>
          <a:ln>
            <a:noFill/>
          </a:ln>
          <a:effectLst>
            <a:outerShdw blurRad="171450" rotWithShape="0" algn="bl" dir="5400000" dist="571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25"/>
          <p:cNvSpPr/>
          <p:nvPr/>
        </p:nvSpPr>
        <p:spPr>
          <a:xfrm>
            <a:off x="753525" y="1480175"/>
            <a:ext cx="134700" cy="131400"/>
          </a:xfrm>
          <a:prstGeom prst="ellipse">
            <a:avLst/>
          </a:prstGeom>
          <a:solidFill>
            <a:srgbClr val="E0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25"/>
          <p:cNvSpPr/>
          <p:nvPr/>
        </p:nvSpPr>
        <p:spPr>
          <a:xfrm>
            <a:off x="971175" y="1480175"/>
            <a:ext cx="134700" cy="1314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25"/>
          <p:cNvSpPr/>
          <p:nvPr/>
        </p:nvSpPr>
        <p:spPr>
          <a:xfrm>
            <a:off x="1188825" y="1480175"/>
            <a:ext cx="134700" cy="131400"/>
          </a:xfrm>
          <a:prstGeom prst="ellipse">
            <a:avLst/>
          </a:prstGeom>
          <a:solidFill>
            <a:srgbClr val="6AA8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25"/>
          <p:cNvSpPr txBox="1"/>
          <p:nvPr/>
        </p:nvSpPr>
        <p:spPr>
          <a:xfrm>
            <a:off x="2438575" y="1758850"/>
            <a:ext cx="5764500" cy="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900">
                <a:solidFill>
                  <a:srgbClr val="EFEFEF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Avaliação de desempenho</a:t>
            </a:r>
            <a:endParaRPr b="1" sz="2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5" name="Google Shape;185;p25"/>
          <p:cNvSpPr txBox="1"/>
          <p:nvPr/>
        </p:nvSpPr>
        <p:spPr>
          <a:xfrm>
            <a:off x="1590175" y="1758838"/>
            <a:ext cx="848400" cy="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100">
                <a:solidFill>
                  <a:srgbClr val="3C78D8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04</a:t>
            </a:r>
            <a:endParaRPr sz="4100">
              <a:solidFill>
                <a:srgbClr val="3C78D8"/>
              </a:solidFill>
              <a:latin typeface="Roboto Mono SemiBold"/>
              <a:ea typeface="Roboto Mono SemiBold"/>
              <a:cs typeface="Roboto Mono SemiBold"/>
              <a:sym typeface="Roboto Mono SemiBol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6"/>
          <p:cNvSpPr/>
          <p:nvPr/>
        </p:nvSpPr>
        <p:spPr>
          <a:xfrm>
            <a:off x="606150" y="809975"/>
            <a:ext cx="7931700" cy="3981000"/>
          </a:xfrm>
          <a:prstGeom prst="roundRect">
            <a:avLst>
              <a:gd fmla="val 4376" name="adj"/>
            </a:avLst>
          </a:prstGeom>
          <a:solidFill>
            <a:srgbClr val="1F3240"/>
          </a:solidFill>
          <a:ln>
            <a:noFill/>
          </a:ln>
          <a:effectLst>
            <a:outerShdw blurRad="171450" rotWithShape="0" algn="bl" dir="5400000" dist="571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26"/>
          <p:cNvSpPr/>
          <p:nvPr/>
        </p:nvSpPr>
        <p:spPr>
          <a:xfrm>
            <a:off x="753525" y="961450"/>
            <a:ext cx="134700" cy="131400"/>
          </a:xfrm>
          <a:prstGeom prst="ellipse">
            <a:avLst/>
          </a:prstGeom>
          <a:solidFill>
            <a:srgbClr val="E0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26"/>
          <p:cNvSpPr/>
          <p:nvPr/>
        </p:nvSpPr>
        <p:spPr>
          <a:xfrm>
            <a:off x="971175" y="961450"/>
            <a:ext cx="134700" cy="1314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6"/>
          <p:cNvSpPr/>
          <p:nvPr/>
        </p:nvSpPr>
        <p:spPr>
          <a:xfrm>
            <a:off x="1188825" y="961450"/>
            <a:ext cx="134700" cy="131400"/>
          </a:xfrm>
          <a:prstGeom prst="ellipse">
            <a:avLst/>
          </a:prstGeom>
          <a:solidFill>
            <a:srgbClr val="6AA8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26"/>
          <p:cNvSpPr txBox="1"/>
          <p:nvPr/>
        </p:nvSpPr>
        <p:spPr>
          <a:xfrm>
            <a:off x="606150" y="205275"/>
            <a:ext cx="6080700" cy="5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900">
                <a:solidFill>
                  <a:srgbClr val="EFEFEF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Ambiente de teste</a:t>
            </a:r>
            <a:endParaRPr sz="2900">
              <a:solidFill>
                <a:srgbClr val="EFEFEF"/>
              </a:solidFill>
              <a:latin typeface="Roboto Mono SemiBold"/>
              <a:ea typeface="Roboto Mono SemiBold"/>
              <a:cs typeface="Roboto Mono SemiBold"/>
              <a:sym typeface="Roboto Mono SemiBold"/>
            </a:endParaRPr>
          </a:p>
        </p:txBody>
      </p:sp>
      <p:sp>
        <p:nvSpPr>
          <p:cNvPr id="195" name="Google Shape;195;p26"/>
          <p:cNvSpPr txBox="1"/>
          <p:nvPr/>
        </p:nvSpPr>
        <p:spPr>
          <a:xfrm>
            <a:off x="847500" y="1134400"/>
            <a:ext cx="7449000" cy="34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F3F3F3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Alguns experimentos deste trabalho utilizaram os recursos da infraestrutura PCAD, http://gppd-hpc.inf.ufrgs.br, no INF/UFRGS.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Roboto Mono SemiBold"/>
              <a:buChar char="●"/>
            </a:pPr>
            <a:r>
              <a:rPr lang="pt-BR">
                <a:solidFill>
                  <a:srgbClr val="F3F3F3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Máquina: </a:t>
            </a:r>
            <a:r>
              <a:rPr lang="pt-BR">
                <a:solidFill>
                  <a:srgbClr val="1AB1CD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Hype5</a:t>
            </a:r>
            <a:endParaRPr>
              <a:solidFill>
                <a:srgbClr val="1AB1CD"/>
              </a:solidFill>
              <a:latin typeface="Roboto Mono SemiBold"/>
              <a:ea typeface="Roboto Mono SemiBold"/>
              <a:cs typeface="Roboto Mono SemiBold"/>
              <a:sym typeface="Roboto Mono SemiBold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Roboto Mono SemiBold"/>
              <a:buChar char="●"/>
            </a:pPr>
            <a:r>
              <a:rPr lang="pt-BR">
                <a:solidFill>
                  <a:srgbClr val="F3F3F3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2x Intel(R) Xeon(R) E5-2650 v3</a:t>
            </a:r>
            <a:endParaRPr>
              <a:solidFill>
                <a:srgbClr val="F3F3F3"/>
              </a:solidFill>
              <a:latin typeface="Roboto Mono SemiBold"/>
              <a:ea typeface="Roboto Mono SemiBold"/>
              <a:cs typeface="Roboto Mono SemiBold"/>
              <a:sym typeface="Roboto Mono SemiBold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Roboto Mono SemiBold"/>
              <a:buChar char="●"/>
            </a:pPr>
            <a:r>
              <a:rPr lang="pt-BR">
                <a:solidFill>
                  <a:srgbClr val="F3F3F3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Frequência: 2.30GHz</a:t>
            </a:r>
            <a:endParaRPr>
              <a:solidFill>
                <a:srgbClr val="F3F3F3"/>
              </a:solidFill>
              <a:latin typeface="Roboto Mono SemiBold"/>
              <a:ea typeface="Roboto Mono SemiBold"/>
              <a:cs typeface="Roboto Mono SemiBold"/>
              <a:sym typeface="Roboto Mono SemiBold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Roboto Mono SemiBold"/>
              <a:buChar char="●"/>
            </a:pPr>
            <a:r>
              <a:rPr lang="pt-BR">
                <a:solidFill>
                  <a:srgbClr val="F3F3F3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20 Cores, 40 Threads</a:t>
            </a:r>
            <a:endParaRPr>
              <a:solidFill>
                <a:srgbClr val="F3F3F3"/>
              </a:solidFill>
              <a:latin typeface="Roboto Mono SemiBold"/>
              <a:ea typeface="Roboto Mono SemiBold"/>
              <a:cs typeface="Roboto Mono SemiBold"/>
              <a:sym typeface="Roboto Mono SemiBold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Roboto Mono SemiBold"/>
              <a:buChar char="●"/>
            </a:pPr>
            <a:r>
              <a:rPr lang="pt-BR">
                <a:solidFill>
                  <a:srgbClr val="F3F3F3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128Gb de RAM DDR4</a:t>
            </a:r>
            <a:endParaRPr>
              <a:solidFill>
                <a:srgbClr val="F3F3F3"/>
              </a:solidFill>
              <a:latin typeface="Roboto Mono SemiBold"/>
              <a:ea typeface="Roboto Mono SemiBold"/>
              <a:cs typeface="Roboto Mono SemiBold"/>
              <a:sym typeface="Roboto Mono Semi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EFEFEF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 </a:t>
            </a:r>
            <a:endParaRPr sz="1600">
              <a:solidFill>
                <a:srgbClr val="EFEFEF"/>
              </a:solidFill>
              <a:latin typeface="Roboto Mono SemiBold"/>
              <a:ea typeface="Roboto Mono SemiBold"/>
              <a:cs typeface="Roboto Mono SemiBold"/>
              <a:sym typeface="Roboto Mono SemiBold"/>
            </a:endParaRPr>
          </a:p>
        </p:txBody>
      </p:sp>
      <p:pic>
        <p:nvPicPr>
          <p:cNvPr id="196" name="Google Shape;196;p26" title="Captura de tela de 2025-10-02 12-40-40.png"/>
          <p:cNvPicPr preferRelativeResize="0"/>
          <p:nvPr/>
        </p:nvPicPr>
        <p:blipFill rotWithShape="1">
          <a:blip r:embed="rId3">
            <a:alphaModFix/>
          </a:blip>
          <a:srcRect b="47813" l="21674" r="5882" t="44350"/>
          <a:stretch/>
        </p:blipFill>
        <p:spPr>
          <a:xfrm>
            <a:off x="847500" y="3665600"/>
            <a:ext cx="7449000" cy="46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7"/>
          <p:cNvSpPr/>
          <p:nvPr/>
        </p:nvSpPr>
        <p:spPr>
          <a:xfrm>
            <a:off x="606150" y="809975"/>
            <a:ext cx="7931700" cy="3981000"/>
          </a:xfrm>
          <a:prstGeom prst="roundRect">
            <a:avLst>
              <a:gd fmla="val 4376" name="adj"/>
            </a:avLst>
          </a:prstGeom>
          <a:solidFill>
            <a:srgbClr val="1F3240"/>
          </a:solidFill>
          <a:ln>
            <a:noFill/>
          </a:ln>
          <a:effectLst>
            <a:outerShdw blurRad="171450" rotWithShape="0" algn="bl" dir="5400000" dist="571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27"/>
          <p:cNvSpPr/>
          <p:nvPr/>
        </p:nvSpPr>
        <p:spPr>
          <a:xfrm>
            <a:off x="753525" y="961450"/>
            <a:ext cx="134700" cy="131400"/>
          </a:xfrm>
          <a:prstGeom prst="ellipse">
            <a:avLst/>
          </a:prstGeom>
          <a:solidFill>
            <a:srgbClr val="E0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27"/>
          <p:cNvSpPr/>
          <p:nvPr/>
        </p:nvSpPr>
        <p:spPr>
          <a:xfrm>
            <a:off x="971175" y="961450"/>
            <a:ext cx="134700" cy="1314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27"/>
          <p:cNvSpPr/>
          <p:nvPr/>
        </p:nvSpPr>
        <p:spPr>
          <a:xfrm>
            <a:off x="1188825" y="961450"/>
            <a:ext cx="134700" cy="131400"/>
          </a:xfrm>
          <a:prstGeom prst="ellipse">
            <a:avLst/>
          </a:prstGeom>
          <a:solidFill>
            <a:srgbClr val="6AA8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7"/>
          <p:cNvSpPr txBox="1"/>
          <p:nvPr/>
        </p:nvSpPr>
        <p:spPr>
          <a:xfrm>
            <a:off x="606150" y="205275"/>
            <a:ext cx="6080700" cy="5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900">
                <a:solidFill>
                  <a:srgbClr val="EFEFEF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Datasets</a:t>
            </a:r>
            <a:endParaRPr sz="2900">
              <a:solidFill>
                <a:srgbClr val="EFEFEF"/>
              </a:solidFill>
              <a:latin typeface="Roboto Mono SemiBold"/>
              <a:ea typeface="Roboto Mono SemiBold"/>
              <a:cs typeface="Roboto Mono SemiBold"/>
              <a:sym typeface="Roboto Mono SemiBold"/>
            </a:endParaRPr>
          </a:p>
        </p:txBody>
      </p:sp>
      <p:sp>
        <p:nvSpPr>
          <p:cNvPr id="206" name="Google Shape;206;p27"/>
          <p:cNvSpPr/>
          <p:nvPr/>
        </p:nvSpPr>
        <p:spPr>
          <a:xfrm>
            <a:off x="1074650" y="1338250"/>
            <a:ext cx="3239400" cy="1595100"/>
          </a:xfrm>
          <a:prstGeom prst="rect">
            <a:avLst/>
          </a:prstGeom>
          <a:solidFill>
            <a:srgbClr val="073763"/>
          </a:solidFill>
          <a:ln cap="flat" cmpd="sng" w="9525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7" name="Google Shape;207;p27"/>
          <p:cNvSpPr txBox="1"/>
          <p:nvPr/>
        </p:nvSpPr>
        <p:spPr>
          <a:xfrm>
            <a:off x="1074650" y="1338250"/>
            <a:ext cx="3239400" cy="14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87C3FF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&gt; iris_test.csv</a:t>
            </a:r>
            <a:endParaRPr>
              <a:solidFill>
                <a:srgbClr val="87C3FF"/>
              </a:solidFill>
              <a:latin typeface="Roboto Mono SemiBold"/>
              <a:ea typeface="Roboto Mono SemiBold"/>
              <a:cs typeface="Roboto Mono SemiBold"/>
              <a:sym typeface="Roboto Mono SemiBold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Roboto Mono SemiBold"/>
              <a:buChar char="●"/>
            </a:pPr>
            <a:r>
              <a:rPr lang="pt-BR">
                <a:solidFill>
                  <a:srgbClr val="F3F3F3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678 B</a:t>
            </a:r>
            <a:endParaRPr>
              <a:solidFill>
                <a:srgbClr val="F3F3F3"/>
              </a:solidFill>
              <a:latin typeface="Roboto Mono SemiBold"/>
              <a:ea typeface="Roboto Mono SemiBold"/>
              <a:cs typeface="Roboto Mono SemiBold"/>
              <a:sym typeface="Roboto Mono SemiBold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Roboto Mono SemiBold"/>
              <a:buChar char="●"/>
            </a:pPr>
            <a:r>
              <a:rPr lang="pt-BR">
                <a:solidFill>
                  <a:srgbClr val="F3F3F3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5 features</a:t>
            </a:r>
            <a:endParaRPr>
              <a:solidFill>
                <a:srgbClr val="F3F3F3"/>
              </a:solidFill>
              <a:latin typeface="Roboto Mono SemiBold"/>
              <a:ea typeface="Roboto Mono SemiBold"/>
              <a:cs typeface="Roboto Mono SemiBold"/>
              <a:sym typeface="Roboto Mono SemiBold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6D7A8"/>
              </a:buClr>
              <a:buSzPts val="1400"/>
              <a:buFont typeface="Roboto Mono SemiBold"/>
              <a:buChar char="●"/>
            </a:pPr>
            <a:r>
              <a:rPr lang="pt-BR">
                <a:solidFill>
                  <a:srgbClr val="B6D7A8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30 amostras</a:t>
            </a:r>
            <a:endParaRPr>
              <a:solidFill>
                <a:srgbClr val="B6D7A8"/>
              </a:solidFill>
              <a:latin typeface="Roboto Mono SemiBold"/>
              <a:ea typeface="Roboto Mono SemiBold"/>
              <a:cs typeface="Roboto Mono SemiBold"/>
              <a:sym typeface="Roboto Mono Semi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EFEFEF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 </a:t>
            </a:r>
            <a:endParaRPr sz="1600">
              <a:solidFill>
                <a:srgbClr val="EFEFEF"/>
              </a:solidFill>
              <a:latin typeface="Roboto Mono SemiBold"/>
              <a:ea typeface="Roboto Mono SemiBold"/>
              <a:cs typeface="Roboto Mono SemiBold"/>
              <a:sym typeface="Roboto Mono SemiBold"/>
            </a:endParaRPr>
          </a:p>
        </p:txBody>
      </p:sp>
      <p:sp>
        <p:nvSpPr>
          <p:cNvPr id="208" name="Google Shape;208;p27"/>
          <p:cNvSpPr/>
          <p:nvPr/>
        </p:nvSpPr>
        <p:spPr>
          <a:xfrm>
            <a:off x="4788225" y="1338250"/>
            <a:ext cx="3239400" cy="1595100"/>
          </a:xfrm>
          <a:prstGeom prst="rect">
            <a:avLst/>
          </a:prstGeom>
          <a:solidFill>
            <a:srgbClr val="073763"/>
          </a:solidFill>
          <a:ln cap="flat" cmpd="sng" w="9525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9" name="Google Shape;209;p27"/>
          <p:cNvSpPr txBox="1"/>
          <p:nvPr/>
        </p:nvSpPr>
        <p:spPr>
          <a:xfrm>
            <a:off x="4788225" y="1338250"/>
            <a:ext cx="3239400" cy="14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87C3FF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&gt; student_performance.csv</a:t>
            </a:r>
            <a:endParaRPr>
              <a:solidFill>
                <a:srgbClr val="87C3FF"/>
              </a:solidFill>
              <a:latin typeface="Roboto Mono SemiBold"/>
              <a:ea typeface="Roboto Mono SemiBold"/>
              <a:cs typeface="Roboto Mono SemiBold"/>
              <a:sym typeface="Roboto Mono SemiBold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Roboto Mono SemiBold"/>
              <a:buChar char="●"/>
            </a:pPr>
            <a:r>
              <a:rPr lang="pt-BR">
                <a:solidFill>
                  <a:srgbClr val="F3F3F3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813 KB</a:t>
            </a:r>
            <a:endParaRPr>
              <a:solidFill>
                <a:srgbClr val="F3F3F3"/>
              </a:solidFill>
              <a:latin typeface="Roboto Mono SemiBold"/>
              <a:ea typeface="Roboto Mono SemiBold"/>
              <a:cs typeface="Roboto Mono SemiBold"/>
              <a:sym typeface="Roboto Mono SemiBold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Roboto Mono SemiBold"/>
              <a:buChar char="●"/>
            </a:pPr>
            <a:r>
              <a:rPr lang="pt-BR">
                <a:solidFill>
                  <a:srgbClr val="F3F3F3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6 features</a:t>
            </a:r>
            <a:endParaRPr>
              <a:solidFill>
                <a:srgbClr val="F3F3F3"/>
              </a:solidFill>
              <a:latin typeface="Roboto Mono SemiBold"/>
              <a:ea typeface="Roboto Mono SemiBold"/>
              <a:cs typeface="Roboto Mono SemiBold"/>
              <a:sym typeface="Roboto Mono SemiBold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6D7A8"/>
              </a:buClr>
              <a:buSzPts val="1400"/>
              <a:buFont typeface="Roboto Mono SemiBold"/>
              <a:buChar char="●"/>
            </a:pPr>
            <a:r>
              <a:rPr lang="pt-BR">
                <a:solidFill>
                  <a:srgbClr val="B6D7A8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30000 amostras</a:t>
            </a:r>
            <a:endParaRPr>
              <a:solidFill>
                <a:srgbClr val="B6D7A8"/>
              </a:solidFill>
              <a:latin typeface="Roboto Mono SemiBold"/>
              <a:ea typeface="Roboto Mono SemiBold"/>
              <a:cs typeface="Roboto Mono SemiBold"/>
              <a:sym typeface="Roboto Mono Semi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EFEFEF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 </a:t>
            </a:r>
            <a:endParaRPr sz="1600">
              <a:solidFill>
                <a:srgbClr val="EFEFEF"/>
              </a:solidFill>
              <a:latin typeface="Roboto Mono SemiBold"/>
              <a:ea typeface="Roboto Mono SemiBold"/>
              <a:cs typeface="Roboto Mono SemiBold"/>
              <a:sym typeface="Roboto Mono SemiBold"/>
            </a:endParaRPr>
          </a:p>
        </p:txBody>
      </p:sp>
      <p:sp>
        <p:nvSpPr>
          <p:cNvPr id="210" name="Google Shape;210;p27"/>
          <p:cNvSpPr/>
          <p:nvPr/>
        </p:nvSpPr>
        <p:spPr>
          <a:xfrm>
            <a:off x="1074650" y="3036850"/>
            <a:ext cx="3239400" cy="1595100"/>
          </a:xfrm>
          <a:prstGeom prst="rect">
            <a:avLst/>
          </a:prstGeom>
          <a:solidFill>
            <a:srgbClr val="073763"/>
          </a:solidFill>
          <a:ln cap="flat" cmpd="sng" w="9525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11" name="Google Shape;211;p27"/>
          <p:cNvSpPr txBox="1"/>
          <p:nvPr/>
        </p:nvSpPr>
        <p:spPr>
          <a:xfrm>
            <a:off x="1074650" y="3036850"/>
            <a:ext cx="3239400" cy="14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87C3FF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&gt; creditcard.csv</a:t>
            </a:r>
            <a:endParaRPr>
              <a:solidFill>
                <a:srgbClr val="87C3FF"/>
              </a:solidFill>
              <a:latin typeface="Roboto Mono SemiBold"/>
              <a:ea typeface="Roboto Mono SemiBold"/>
              <a:cs typeface="Roboto Mono SemiBold"/>
              <a:sym typeface="Roboto Mono SemiBold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Roboto Mono SemiBold"/>
              <a:buChar char="●"/>
            </a:pPr>
            <a:r>
              <a:rPr lang="pt-BR">
                <a:solidFill>
                  <a:srgbClr val="F3F3F3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4.0 MB</a:t>
            </a:r>
            <a:endParaRPr>
              <a:solidFill>
                <a:srgbClr val="F3F3F3"/>
              </a:solidFill>
              <a:latin typeface="Roboto Mono SemiBold"/>
              <a:ea typeface="Roboto Mono SemiBold"/>
              <a:cs typeface="Roboto Mono SemiBold"/>
              <a:sym typeface="Roboto Mono SemiBold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Roboto Mono SemiBold"/>
              <a:buChar char="●"/>
            </a:pPr>
            <a:r>
              <a:rPr lang="pt-BR">
                <a:solidFill>
                  <a:srgbClr val="F3F3F3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31 features</a:t>
            </a:r>
            <a:endParaRPr>
              <a:solidFill>
                <a:srgbClr val="F3F3F3"/>
              </a:solidFill>
              <a:latin typeface="Roboto Mono SemiBold"/>
              <a:ea typeface="Roboto Mono SemiBold"/>
              <a:cs typeface="Roboto Mono SemiBold"/>
              <a:sym typeface="Roboto Mono SemiBold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6D7A8"/>
              </a:buClr>
              <a:buSzPts val="1400"/>
              <a:buFont typeface="Roboto Mono SemiBold"/>
              <a:buChar char="●"/>
            </a:pPr>
            <a:r>
              <a:rPr lang="pt-BR">
                <a:solidFill>
                  <a:srgbClr val="B6D7A8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8000 amostras</a:t>
            </a:r>
            <a:endParaRPr>
              <a:solidFill>
                <a:srgbClr val="B6D7A8"/>
              </a:solidFill>
              <a:latin typeface="Roboto Mono SemiBold"/>
              <a:ea typeface="Roboto Mono SemiBold"/>
              <a:cs typeface="Roboto Mono SemiBold"/>
              <a:sym typeface="Roboto Mono Semi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EFEFEF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 </a:t>
            </a:r>
            <a:endParaRPr sz="1600">
              <a:solidFill>
                <a:srgbClr val="EFEFEF"/>
              </a:solidFill>
              <a:latin typeface="Roboto Mono SemiBold"/>
              <a:ea typeface="Roboto Mono SemiBold"/>
              <a:cs typeface="Roboto Mono SemiBold"/>
              <a:sym typeface="Roboto Mono SemiBold"/>
            </a:endParaRPr>
          </a:p>
        </p:txBody>
      </p:sp>
      <p:sp>
        <p:nvSpPr>
          <p:cNvPr id="212" name="Google Shape;212;p27"/>
          <p:cNvSpPr/>
          <p:nvPr/>
        </p:nvSpPr>
        <p:spPr>
          <a:xfrm>
            <a:off x="4788225" y="3036850"/>
            <a:ext cx="3239400" cy="1595100"/>
          </a:xfrm>
          <a:prstGeom prst="rect">
            <a:avLst/>
          </a:prstGeom>
          <a:solidFill>
            <a:srgbClr val="073763"/>
          </a:solidFill>
          <a:ln cap="flat" cmpd="sng" w="9525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13" name="Google Shape;213;p27"/>
          <p:cNvSpPr txBox="1"/>
          <p:nvPr/>
        </p:nvSpPr>
        <p:spPr>
          <a:xfrm>
            <a:off x="4788225" y="3036850"/>
            <a:ext cx="3239400" cy="14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87C3FF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&gt; company_bankruptcy.csv</a:t>
            </a:r>
            <a:endParaRPr>
              <a:solidFill>
                <a:srgbClr val="87C3FF"/>
              </a:solidFill>
              <a:latin typeface="Roboto Mono SemiBold"/>
              <a:ea typeface="Roboto Mono SemiBold"/>
              <a:cs typeface="Roboto Mono SemiBold"/>
              <a:sym typeface="Roboto Mono SemiBold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Roboto Mono SemiBold"/>
              <a:buChar char="●"/>
            </a:pPr>
            <a:r>
              <a:rPr lang="pt-BR">
                <a:solidFill>
                  <a:srgbClr val="F3F3F3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11 MB</a:t>
            </a:r>
            <a:endParaRPr>
              <a:solidFill>
                <a:srgbClr val="F3F3F3"/>
              </a:solidFill>
              <a:latin typeface="Roboto Mono SemiBold"/>
              <a:ea typeface="Roboto Mono SemiBold"/>
              <a:cs typeface="Roboto Mono SemiBold"/>
              <a:sym typeface="Roboto Mono SemiBold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Mono SemiBold"/>
              <a:buChar char="●"/>
            </a:pPr>
            <a:r>
              <a:rPr lang="pt-BR">
                <a:solidFill>
                  <a:schemeClr val="lt1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96 features</a:t>
            </a:r>
            <a:endParaRPr>
              <a:solidFill>
                <a:schemeClr val="lt1"/>
              </a:solidFill>
              <a:latin typeface="Roboto Mono SemiBold"/>
              <a:ea typeface="Roboto Mono SemiBold"/>
              <a:cs typeface="Roboto Mono SemiBold"/>
              <a:sym typeface="Roboto Mono SemiBold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6D7A8"/>
              </a:buClr>
              <a:buSzPts val="1400"/>
              <a:buFont typeface="Roboto Mono SemiBold"/>
              <a:buChar char="●"/>
            </a:pPr>
            <a:r>
              <a:rPr lang="pt-BR">
                <a:solidFill>
                  <a:srgbClr val="B6D7A8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6819 amostras</a:t>
            </a:r>
            <a:endParaRPr>
              <a:solidFill>
                <a:srgbClr val="B6D7A8"/>
              </a:solidFill>
              <a:latin typeface="Roboto Mono SemiBold"/>
              <a:ea typeface="Roboto Mono SemiBold"/>
              <a:cs typeface="Roboto Mono SemiBold"/>
              <a:sym typeface="Roboto Mono Semi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EFEFEF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 </a:t>
            </a:r>
            <a:endParaRPr sz="1600">
              <a:solidFill>
                <a:srgbClr val="EFEFEF"/>
              </a:solidFill>
              <a:latin typeface="Roboto Mono SemiBold"/>
              <a:ea typeface="Roboto Mono SemiBold"/>
              <a:cs typeface="Roboto Mono SemiBold"/>
              <a:sym typeface="Roboto Mono SemiBold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8"/>
          <p:cNvSpPr/>
          <p:nvPr/>
        </p:nvSpPr>
        <p:spPr>
          <a:xfrm>
            <a:off x="606150" y="809975"/>
            <a:ext cx="7931700" cy="3981000"/>
          </a:xfrm>
          <a:prstGeom prst="roundRect">
            <a:avLst>
              <a:gd fmla="val 4376" name="adj"/>
            </a:avLst>
          </a:prstGeom>
          <a:solidFill>
            <a:srgbClr val="1F3240"/>
          </a:solidFill>
          <a:ln>
            <a:noFill/>
          </a:ln>
          <a:effectLst>
            <a:outerShdw blurRad="171450" rotWithShape="0" algn="bl" dir="5400000" dist="571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28"/>
          <p:cNvSpPr/>
          <p:nvPr/>
        </p:nvSpPr>
        <p:spPr>
          <a:xfrm>
            <a:off x="753525" y="961450"/>
            <a:ext cx="134700" cy="131400"/>
          </a:xfrm>
          <a:prstGeom prst="ellipse">
            <a:avLst/>
          </a:prstGeom>
          <a:solidFill>
            <a:srgbClr val="E0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28"/>
          <p:cNvSpPr/>
          <p:nvPr/>
        </p:nvSpPr>
        <p:spPr>
          <a:xfrm>
            <a:off x="971175" y="961450"/>
            <a:ext cx="134700" cy="1314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8"/>
          <p:cNvSpPr/>
          <p:nvPr/>
        </p:nvSpPr>
        <p:spPr>
          <a:xfrm>
            <a:off x="1188825" y="961450"/>
            <a:ext cx="134700" cy="131400"/>
          </a:xfrm>
          <a:prstGeom prst="ellipse">
            <a:avLst/>
          </a:prstGeom>
          <a:solidFill>
            <a:srgbClr val="6AA8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8"/>
          <p:cNvSpPr txBox="1"/>
          <p:nvPr/>
        </p:nvSpPr>
        <p:spPr>
          <a:xfrm>
            <a:off x="606150" y="205275"/>
            <a:ext cx="8131500" cy="5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900">
                <a:solidFill>
                  <a:srgbClr val="EFEFEF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Resultados</a:t>
            </a:r>
            <a:r>
              <a:rPr lang="pt-BR" sz="2900">
                <a:solidFill>
                  <a:srgbClr val="EFEFEF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 - Tempo</a:t>
            </a:r>
            <a:endParaRPr sz="2900">
              <a:solidFill>
                <a:srgbClr val="EFEFEF"/>
              </a:solidFill>
              <a:latin typeface="Roboto Mono SemiBold"/>
              <a:ea typeface="Roboto Mono SemiBold"/>
              <a:cs typeface="Roboto Mono SemiBold"/>
              <a:sym typeface="Roboto Mono SemiBold"/>
            </a:endParaRPr>
          </a:p>
        </p:txBody>
      </p:sp>
      <p:pic>
        <p:nvPicPr>
          <p:cNvPr id="223" name="Google Shape;223;p28" title="all_datasets_execution_time.png"/>
          <p:cNvPicPr preferRelativeResize="0"/>
          <p:nvPr/>
        </p:nvPicPr>
        <p:blipFill rotWithShape="1">
          <a:blip r:embed="rId3">
            <a:alphaModFix/>
          </a:blip>
          <a:srcRect b="0" l="288" r="288" t="0"/>
          <a:stretch/>
        </p:blipFill>
        <p:spPr>
          <a:xfrm>
            <a:off x="2198124" y="961450"/>
            <a:ext cx="5446651" cy="365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9"/>
          <p:cNvSpPr/>
          <p:nvPr/>
        </p:nvSpPr>
        <p:spPr>
          <a:xfrm>
            <a:off x="606150" y="809975"/>
            <a:ext cx="7931700" cy="3981000"/>
          </a:xfrm>
          <a:prstGeom prst="roundRect">
            <a:avLst>
              <a:gd fmla="val 4376" name="adj"/>
            </a:avLst>
          </a:prstGeom>
          <a:solidFill>
            <a:srgbClr val="1F3240"/>
          </a:solidFill>
          <a:ln>
            <a:noFill/>
          </a:ln>
          <a:effectLst>
            <a:outerShdw blurRad="171450" rotWithShape="0" algn="bl" dir="5400000" dist="571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9"/>
          <p:cNvSpPr/>
          <p:nvPr/>
        </p:nvSpPr>
        <p:spPr>
          <a:xfrm>
            <a:off x="753525" y="961450"/>
            <a:ext cx="134700" cy="131400"/>
          </a:xfrm>
          <a:prstGeom prst="ellipse">
            <a:avLst/>
          </a:prstGeom>
          <a:solidFill>
            <a:srgbClr val="E0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29"/>
          <p:cNvSpPr/>
          <p:nvPr/>
        </p:nvSpPr>
        <p:spPr>
          <a:xfrm>
            <a:off x="971175" y="961450"/>
            <a:ext cx="134700" cy="1314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29"/>
          <p:cNvSpPr/>
          <p:nvPr/>
        </p:nvSpPr>
        <p:spPr>
          <a:xfrm>
            <a:off x="1188825" y="961450"/>
            <a:ext cx="134700" cy="131400"/>
          </a:xfrm>
          <a:prstGeom prst="ellipse">
            <a:avLst/>
          </a:prstGeom>
          <a:solidFill>
            <a:srgbClr val="6AA8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9"/>
          <p:cNvSpPr txBox="1"/>
          <p:nvPr/>
        </p:nvSpPr>
        <p:spPr>
          <a:xfrm>
            <a:off x="606150" y="205275"/>
            <a:ext cx="8131500" cy="5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900">
                <a:solidFill>
                  <a:srgbClr val="EFEFEF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Resultados - Speedup</a:t>
            </a:r>
            <a:endParaRPr sz="2900">
              <a:solidFill>
                <a:srgbClr val="EFEFEF"/>
              </a:solidFill>
              <a:latin typeface="Roboto Mono SemiBold"/>
              <a:ea typeface="Roboto Mono SemiBold"/>
              <a:cs typeface="Roboto Mono SemiBold"/>
              <a:sym typeface="Roboto Mono SemiBold"/>
            </a:endParaRPr>
          </a:p>
        </p:txBody>
      </p:sp>
      <p:pic>
        <p:nvPicPr>
          <p:cNvPr id="233" name="Google Shape;233;p29" title="all_datasets_speedup.png"/>
          <p:cNvPicPr preferRelativeResize="0"/>
          <p:nvPr/>
        </p:nvPicPr>
        <p:blipFill rotWithShape="1">
          <a:blip r:embed="rId3">
            <a:alphaModFix/>
          </a:blip>
          <a:srcRect b="0" l="288" r="288" t="0"/>
          <a:stretch/>
        </p:blipFill>
        <p:spPr>
          <a:xfrm>
            <a:off x="2198124" y="961450"/>
            <a:ext cx="5446651" cy="365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0"/>
          <p:cNvSpPr/>
          <p:nvPr/>
        </p:nvSpPr>
        <p:spPr>
          <a:xfrm>
            <a:off x="606150" y="809975"/>
            <a:ext cx="7931700" cy="3981000"/>
          </a:xfrm>
          <a:prstGeom prst="roundRect">
            <a:avLst>
              <a:gd fmla="val 4376" name="adj"/>
            </a:avLst>
          </a:prstGeom>
          <a:solidFill>
            <a:srgbClr val="1F3240"/>
          </a:solidFill>
          <a:ln>
            <a:noFill/>
          </a:ln>
          <a:effectLst>
            <a:outerShdw blurRad="171450" rotWithShape="0" algn="bl" dir="5400000" dist="571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30"/>
          <p:cNvSpPr/>
          <p:nvPr/>
        </p:nvSpPr>
        <p:spPr>
          <a:xfrm>
            <a:off x="753525" y="961450"/>
            <a:ext cx="134700" cy="131400"/>
          </a:xfrm>
          <a:prstGeom prst="ellipse">
            <a:avLst/>
          </a:prstGeom>
          <a:solidFill>
            <a:srgbClr val="E0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30"/>
          <p:cNvSpPr/>
          <p:nvPr/>
        </p:nvSpPr>
        <p:spPr>
          <a:xfrm>
            <a:off x="971175" y="961450"/>
            <a:ext cx="134700" cy="1314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30"/>
          <p:cNvSpPr/>
          <p:nvPr/>
        </p:nvSpPr>
        <p:spPr>
          <a:xfrm>
            <a:off x="1188825" y="961450"/>
            <a:ext cx="134700" cy="131400"/>
          </a:xfrm>
          <a:prstGeom prst="ellipse">
            <a:avLst/>
          </a:prstGeom>
          <a:solidFill>
            <a:srgbClr val="6AA8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30"/>
          <p:cNvSpPr txBox="1"/>
          <p:nvPr/>
        </p:nvSpPr>
        <p:spPr>
          <a:xfrm>
            <a:off x="606150" y="205275"/>
            <a:ext cx="8131500" cy="5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900">
                <a:solidFill>
                  <a:srgbClr val="EFEFEF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Resultados - Eficiência</a:t>
            </a:r>
            <a:endParaRPr sz="2900">
              <a:solidFill>
                <a:srgbClr val="EFEFEF"/>
              </a:solidFill>
              <a:latin typeface="Roboto Mono SemiBold"/>
              <a:ea typeface="Roboto Mono SemiBold"/>
              <a:cs typeface="Roboto Mono SemiBold"/>
              <a:sym typeface="Roboto Mono SemiBold"/>
            </a:endParaRPr>
          </a:p>
        </p:txBody>
      </p:sp>
      <p:pic>
        <p:nvPicPr>
          <p:cNvPr id="243" name="Google Shape;243;p30" title="all_datasets_efficiency.png"/>
          <p:cNvPicPr preferRelativeResize="0"/>
          <p:nvPr/>
        </p:nvPicPr>
        <p:blipFill rotWithShape="1">
          <a:blip r:embed="rId3">
            <a:alphaModFix/>
          </a:blip>
          <a:srcRect b="0" l="288" r="288" t="0"/>
          <a:stretch/>
        </p:blipFill>
        <p:spPr>
          <a:xfrm>
            <a:off x="2198124" y="961450"/>
            <a:ext cx="5446651" cy="365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1"/>
          <p:cNvSpPr/>
          <p:nvPr/>
        </p:nvSpPr>
        <p:spPr>
          <a:xfrm>
            <a:off x="606150" y="809975"/>
            <a:ext cx="7931700" cy="3981000"/>
          </a:xfrm>
          <a:prstGeom prst="roundRect">
            <a:avLst>
              <a:gd fmla="val 4376" name="adj"/>
            </a:avLst>
          </a:prstGeom>
          <a:solidFill>
            <a:srgbClr val="1F3240"/>
          </a:solidFill>
          <a:ln>
            <a:noFill/>
          </a:ln>
          <a:effectLst>
            <a:outerShdw blurRad="171450" rotWithShape="0" algn="bl" dir="5400000" dist="571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31"/>
          <p:cNvSpPr/>
          <p:nvPr/>
        </p:nvSpPr>
        <p:spPr>
          <a:xfrm>
            <a:off x="753525" y="961450"/>
            <a:ext cx="134700" cy="131400"/>
          </a:xfrm>
          <a:prstGeom prst="ellipse">
            <a:avLst/>
          </a:prstGeom>
          <a:solidFill>
            <a:srgbClr val="E0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31"/>
          <p:cNvSpPr/>
          <p:nvPr/>
        </p:nvSpPr>
        <p:spPr>
          <a:xfrm>
            <a:off x="971175" y="961450"/>
            <a:ext cx="134700" cy="1314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31"/>
          <p:cNvSpPr/>
          <p:nvPr/>
        </p:nvSpPr>
        <p:spPr>
          <a:xfrm>
            <a:off x="1188825" y="961450"/>
            <a:ext cx="134700" cy="131400"/>
          </a:xfrm>
          <a:prstGeom prst="ellipse">
            <a:avLst/>
          </a:prstGeom>
          <a:solidFill>
            <a:srgbClr val="6AA8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31"/>
          <p:cNvSpPr txBox="1"/>
          <p:nvPr/>
        </p:nvSpPr>
        <p:spPr>
          <a:xfrm>
            <a:off x="606150" y="205275"/>
            <a:ext cx="6080700" cy="5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900">
                <a:solidFill>
                  <a:srgbClr val="EFEFEF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Cálculo da acurácia</a:t>
            </a:r>
            <a:endParaRPr sz="2900">
              <a:solidFill>
                <a:srgbClr val="EFEFEF"/>
              </a:solidFill>
              <a:latin typeface="Roboto Mono SemiBold"/>
              <a:ea typeface="Roboto Mono SemiBold"/>
              <a:cs typeface="Roboto Mono SemiBold"/>
              <a:sym typeface="Roboto Mono SemiBold"/>
            </a:endParaRPr>
          </a:p>
        </p:txBody>
      </p:sp>
      <p:pic>
        <p:nvPicPr>
          <p:cNvPr id="253" name="Google Shape;253;p31"/>
          <p:cNvPicPr preferRelativeResize="0"/>
          <p:nvPr/>
        </p:nvPicPr>
        <p:blipFill rotWithShape="1">
          <a:blip r:embed="rId3">
            <a:alphaModFix/>
          </a:blip>
          <a:srcRect b="46797" l="0" r="0" t="0"/>
          <a:stretch/>
        </p:blipFill>
        <p:spPr>
          <a:xfrm>
            <a:off x="1781500" y="1092850"/>
            <a:ext cx="5581001" cy="1421450"/>
          </a:xfrm>
          <a:prstGeom prst="rect">
            <a:avLst/>
          </a:prstGeom>
          <a:solidFill>
            <a:srgbClr val="1F3240"/>
          </a:solidFill>
          <a:ln>
            <a:noFill/>
          </a:ln>
          <a:effectLst>
            <a:outerShdw blurRad="171450" rotWithShape="0" algn="bl" dir="5400000" dist="57150">
              <a:srgbClr val="000000">
                <a:alpha val="50000"/>
              </a:srgbClr>
            </a:outerShdw>
          </a:effectLst>
        </p:spPr>
      </p:pic>
      <p:sp>
        <p:nvSpPr>
          <p:cNvPr id="254" name="Google Shape;254;p31"/>
          <p:cNvSpPr txBox="1"/>
          <p:nvPr/>
        </p:nvSpPr>
        <p:spPr>
          <a:xfrm>
            <a:off x="847500" y="2568375"/>
            <a:ext cx="7449000" cy="20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F3F3F3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Os resultados mostram boa utilização de núcleos físicos (80.1\%) mas baixa utilização total de threads (40\%), o que pode indicar uma dependência de dados e/ou </a:t>
            </a:r>
            <a:r>
              <a:rPr lang="pt-BR">
                <a:solidFill>
                  <a:srgbClr val="F3F3F3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desbalanceamento</a:t>
            </a:r>
            <a:r>
              <a:rPr lang="pt-BR">
                <a:solidFill>
                  <a:srgbClr val="F3F3F3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 de carga de trabalho, no caso em que uma árvore se torna muito profunda durante o processo de treinamento, tendo como causa a utilização de amostras bootstrap e randomização de features.</a:t>
            </a:r>
            <a:endParaRPr>
              <a:solidFill>
                <a:srgbClr val="F3F3F3"/>
              </a:solidFill>
              <a:latin typeface="Roboto Mono SemiBold"/>
              <a:ea typeface="Roboto Mono SemiBold"/>
              <a:cs typeface="Roboto Mono SemiBold"/>
              <a:sym typeface="Roboto Mono Semi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EFEFEF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 </a:t>
            </a:r>
            <a:endParaRPr sz="1600">
              <a:solidFill>
                <a:srgbClr val="EFEFEF"/>
              </a:solidFill>
              <a:latin typeface="Roboto Mono SemiBold"/>
              <a:ea typeface="Roboto Mono SemiBold"/>
              <a:cs typeface="Roboto Mono SemiBold"/>
              <a:sym typeface="Roboto Mono SemiBold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2"/>
          <p:cNvSpPr/>
          <p:nvPr/>
        </p:nvSpPr>
        <p:spPr>
          <a:xfrm>
            <a:off x="606150" y="809975"/>
            <a:ext cx="7931700" cy="3981000"/>
          </a:xfrm>
          <a:prstGeom prst="roundRect">
            <a:avLst>
              <a:gd fmla="val 4376" name="adj"/>
            </a:avLst>
          </a:prstGeom>
          <a:solidFill>
            <a:srgbClr val="1F3240"/>
          </a:solidFill>
          <a:ln>
            <a:noFill/>
          </a:ln>
          <a:effectLst>
            <a:outerShdw blurRad="171450" rotWithShape="0" algn="bl" dir="5400000" dist="571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32"/>
          <p:cNvSpPr/>
          <p:nvPr/>
        </p:nvSpPr>
        <p:spPr>
          <a:xfrm>
            <a:off x="753525" y="961450"/>
            <a:ext cx="134700" cy="131400"/>
          </a:xfrm>
          <a:prstGeom prst="ellipse">
            <a:avLst/>
          </a:prstGeom>
          <a:solidFill>
            <a:srgbClr val="E0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32"/>
          <p:cNvSpPr/>
          <p:nvPr/>
        </p:nvSpPr>
        <p:spPr>
          <a:xfrm>
            <a:off x="971175" y="961450"/>
            <a:ext cx="134700" cy="1314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32"/>
          <p:cNvSpPr/>
          <p:nvPr/>
        </p:nvSpPr>
        <p:spPr>
          <a:xfrm>
            <a:off x="1188825" y="961450"/>
            <a:ext cx="134700" cy="131400"/>
          </a:xfrm>
          <a:prstGeom prst="ellipse">
            <a:avLst/>
          </a:prstGeom>
          <a:solidFill>
            <a:srgbClr val="6AA8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32"/>
          <p:cNvSpPr txBox="1"/>
          <p:nvPr/>
        </p:nvSpPr>
        <p:spPr>
          <a:xfrm>
            <a:off x="606150" y="205275"/>
            <a:ext cx="6080700" cy="5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900">
                <a:solidFill>
                  <a:srgbClr val="EFEFEF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Cálculo da acurácia</a:t>
            </a:r>
            <a:endParaRPr sz="2900">
              <a:solidFill>
                <a:srgbClr val="EFEFEF"/>
              </a:solidFill>
              <a:latin typeface="Roboto Mono SemiBold"/>
              <a:ea typeface="Roboto Mono SemiBold"/>
              <a:cs typeface="Roboto Mono SemiBold"/>
              <a:sym typeface="Roboto Mono SemiBold"/>
            </a:endParaRPr>
          </a:p>
        </p:txBody>
      </p:sp>
      <p:sp>
        <p:nvSpPr>
          <p:cNvPr id="264" name="Google Shape;264;p32"/>
          <p:cNvSpPr txBox="1"/>
          <p:nvPr/>
        </p:nvSpPr>
        <p:spPr>
          <a:xfrm>
            <a:off x="847500" y="2865750"/>
            <a:ext cx="7449000" cy="17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F3F3F3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A análise de hotspots evidencia que a maior parte da carga de trabalho ocorre no cálculo da impureza de gini (sequencial) e na busca pelo melhor split (paralelo)</a:t>
            </a:r>
            <a:endParaRPr>
              <a:solidFill>
                <a:srgbClr val="F3F3F3"/>
              </a:solidFill>
              <a:latin typeface="Roboto Mono SemiBold"/>
              <a:ea typeface="Roboto Mono SemiBold"/>
              <a:cs typeface="Roboto Mono SemiBold"/>
              <a:sym typeface="Roboto Mono Semi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EFEFEF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 </a:t>
            </a:r>
            <a:endParaRPr sz="1600">
              <a:solidFill>
                <a:srgbClr val="EFEFEF"/>
              </a:solidFill>
              <a:latin typeface="Roboto Mono SemiBold"/>
              <a:ea typeface="Roboto Mono SemiBold"/>
              <a:cs typeface="Roboto Mono SemiBold"/>
              <a:sym typeface="Roboto Mono SemiBold"/>
            </a:endParaRPr>
          </a:p>
        </p:txBody>
      </p:sp>
      <p:pic>
        <p:nvPicPr>
          <p:cNvPr id="265" name="Google Shape;265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8022" y="1019372"/>
            <a:ext cx="5707951" cy="1714475"/>
          </a:xfrm>
          <a:prstGeom prst="rect">
            <a:avLst/>
          </a:prstGeom>
          <a:solidFill>
            <a:srgbClr val="1F3240"/>
          </a:solidFill>
          <a:ln>
            <a:noFill/>
          </a:ln>
          <a:effectLst>
            <a:outerShdw blurRad="171450" rotWithShape="0" algn="bl" dir="5400000" dist="571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